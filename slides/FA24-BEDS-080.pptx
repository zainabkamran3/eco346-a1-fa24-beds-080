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opening (about 55 seconds): This project studies rural Punjab, variant zero, using PSLM 2019–20. We examined student education spending, and literacy across 11 age groups for men and women. One result stands out: for people aged 55–59, the male literacy rate is 35.8 percentage points above the female rate. This is descriptive evidence, not proof of why the gap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discussion (about 60 seconds): Here is the actual R-generated histogram for rural Punjab. The sample has 9,173 students reporting positive annual spending and valid survey weights; three are outside the plotted Rs 100–1,000,000 range. A logarithmic X-axis makes spending across orders of magnitude easier to compare. The weighted median is Rs 6,600 and the 90th percentile is Rs 30,000. The ratio of the weighted 90th to 10th percentiles is 15.00, indicating substantial variation in annual education spending. The heights are survey-weighted density per log10 unit, not raw student counts.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discussion (about 105 seconds): The left panel is the original default ggplot scatterplot exported from R; every person is shown as a binary literacy outcome, but many points overlap. The right panel is the actual redesigned R graph based on household-weighted literacy rates in 11 five-year age bands. Grouping makes the age trend and differences between male and female literacy visible, direct labels reduce lookup effort, and a dashed line highlights the 55–59 gap of 35.8 percentage points. The sample includes 24,630 eligible person observations. The trade-off is that aggregation hides individual records and variation within each age band.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closing (about 65 seconds): The key finding is not simply that male literacy exceeds female literacy. The difference varies greatly between age bands: at ages 15–19, female literacy is 73.1% and male literacy is 79.8%, a gap of 6.7 points. At ages 55–59, women are 15.0% and men 50.8%, a 35.8-point gap. This is consistent with a more equal literacy profile for younger cohorts, but we cannot infer causal drivers, or the life course of an individual, from this cross-sectional comparison. Thank you; I can explain the weighting and plotting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924"/>
        </a:solidFill>
      </p:bgPr>
    </p:bg>
    <p:spTree>
      <p:nvGrpSpPr>
        <p:cNvPr id="1" name=""/>
        <p:cNvGrpSpPr/>
        <p:nvPr/>
      </p:nvGrpSpPr>
      <p:grpSpPr>
        <a:xfrm>
          <a:off x="0" y="0"/>
          <a:ext cx="0" cy="0"/>
          <a:chOff x="0" y="0"/>
          <a:chExt cx="0" cy="0"/>
        </a:xfrm>
      </p:grpSpPr>
      <p:sp>
        <p:nvSpPr>
          <p:cNvPr id="2" name="Shape 0"/>
          <p:cNvSpPr/>
          <p:nvPr/>
        </p:nvSpPr>
        <p:spPr>
          <a:xfrm>
            <a:off x="603504" y="457200"/>
            <a:ext cx="2011680" cy="338328"/>
          </a:xfrm>
          <a:prstGeom prst="rect">
            <a:avLst>
              <a:gd name="adj" fmla="val 32432"/>
            </a:avLst>
          </a:prstGeom>
          <a:solidFill>
            <a:srgbClr val="C9F071"/>
          </a:solidFill>
          <a:ln w="12700">
            <a:solidFill>
              <a:srgbClr val="C9F071"/>
            </a:solidFill>
            <a:prstDash val="solid"/>
          </a:ln>
        </p:spPr>
      </p:sp>
      <p:sp>
        <p:nvSpPr>
          <p:cNvPr id="3" name="Text 1"/>
          <p:cNvSpPr/>
          <p:nvPr/>
        </p:nvSpPr>
        <p:spPr>
          <a:xfrm>
            <a:off x="749808" y="548640"/>
            <a:ext cx="1737360" cy="137160"/>
          </a:xfrm>
          <a:prstGeom prst="rect">
            <a:avLst/>
          </a:prstGeom>
          <a:noFill/>
          <a:ln/>
        </p:spPr>
        <p:txBody>
          <a:bodyPr wrap="square" lIns="0" tIns="0" rIns="0" bIns="0" rtlCol="0" anchor="ctr"/>
          <a:lstStyle/>
          <a:p>
            <a:pPr indent="0" marL="0">
              <a:buNone/>
            </a:pPr>
            <a:r>
              <a:rPr lang="en-US" sz="930" b="1" spc="110" kern="0" dirty="0">
                <a:solidFill>
                  <a:srgbClr val="142924"/>
                </a:solidFill>
                <a:latin typeface="Inter" pitchFamily="34" charset="0"/>
                <a:ea typeface="Inter" pitchFamily="34" charset="-122"/>
                <a:cs typeface="Inter" pitchFamily="34" charset="-120"/>
              </a:rPr>
              <a:t>ECO346  /  ASSIGNMENT 01</a:t>
            </a:r>
            <a:endParaRPr lang="en-US" sz="930" dirty="0"/>
          </a:p>
        </p:txBody>
      </p:sp>
      <p:sp>
        <p:nvSpPr>
          <p:cNvPr id="4" name="Text 2"/>
          <p:cNvSpPr/>
          <p:nvPr/>
        </p:nvSpPr>
        <p:spPr>
          <a:xfrm>
            <a:off x="8732520" y="539496"/>
            <a:ext cx="2816352" cy="237744"/>
          </a:xfrm>
          <a:prstGeom prst="rect">
            <a:avLst/>
          </a:prstGeom>
          <a:noFill/>
          <a:ln/>
        </p:spPr>
        <p:txBody>
          <a:bodyPr wrap="square" lIns="0" tIns="0" rIns="0" bIns="0" rtlCol="0" anchor="ctr"/>
          <a:lstStyle/>
          <a:p>
            <a:pPr algn="r" indent="0" marL="0">
              <a:buNone/>
            </a:pPr>
            <a:r>
              <a:rPr lang="en-US" sz="950" b="1" spc="180" kern="0" dirty="0">
                <a:solidFill>
                  <a:srgbClr val="B5CABF"/>
                </a:solidFill>
                <a:latin typeface="Inter" pitchFamily="34" charset="0"/>
                <a:ea typeface="Inter" pitchFamily="34" charset="-122"/>
                <a:cs typeface="Inter" pitchFamily="34" charset="-120"/>
              </a:rPr>
              <a:t>FALL 2026   •   SECTION B</a:t>
            </a:r>
            <a:endParaRPr lang="en-US" sz="950" dirty="0"/>
          </a:p>
        </p:txBody>
      </p:sp>
      <p:sp>
        <p:nvSpPr>
          <p:cNvPr id="5" name="Text 3"/>
          <p:cNvSpPr/>
          <p:nvPr/>
        </p:nvSpPr>
        <p:spPr>
          <a:xfrm>
            <a:off x="658368" y="1252728"/>
            <a:ext cx="6510528" cy="1371600"/>
          </a:xfrm>
          <a:prstGeom prst="rect">
            <a:avLst/>
          </a:prstGeom>
          <a:noFill/>
          <a:ln/>
        </p:spPr>
        <p:txBody>
          <a:bodyPr wrap="square" lIns="0" tIns="0" rIns="0" bIns="0" rtlCol="0" anchor="ctr">
            <a:normAutofit/>
          </a:bodyPr>
          <a:lstStyle/>
          <a:p>
            <a:pPr indent="0" marL="0">
              <a:lnSpc>
                <a:spcPct val="100000"/>
              </a:lnSpc>
              <a:buNone/>
            </a:pPr>
            <a:r>
              <a:rPr lang="en-US" sz="4050" b="1" dirty="0">
                <a:solidFill>
                  <a:srgbClr val="FFFFFF"/>
                </a:solidFill>
                <a:latin typeface="Inter Display" pitchFamily="34" charset="0"/>
                <a:ea typeface="Inter Display" pitchFamily="34" charset="-122"/>
                <a:cs typeface="Inter Display" pitchFamily="34" charset="-120"/>
              </a:rPr>
              <a:t>The literacy divide</a:t>
            </a:r>
            <a:endParaRPr lang="en-US" sz="4050" dirty="0"/>
          </a:p>
          <a:p>
            <a:pPr indent="0" marL="0">
              <a:lnSpc>
                <a:spcPct val="100000"/>
              </a:lnSpc>
              <a:buNone/>
            </a:pPr>
            <a:r>
              <a:rPr lang="en-US" sz="4050" b="1" dirty="0">
                <a:solidFill>
                  <a:srgbClr val="FFFFFF"/>
                </a:solidFill>
                <a:latin typeface="Inter Display" pitchFamily="34" charset="0"/>
                <a:ea typeface="Inter Display" pitchFamily="34" charset="-122"/>
                <a:cs typeface="Inter Display" pitchFamily="34" charset="-120"/>
              </a:rPr>
              <a:t>in rural Punjab</a:t>
            </a:r>
            <a:endParaRPr lang="en-US" sz="4050" dirty="0"/>
          </a:p>
        </p:txBody>
      </p:sp>
      <p:sp>
        <p:nvSpPr>
          <p:cNvPr id="6" name="Text 4"/>
          <p:cNvSpPr/>
          <p:nvPr/>
        </p:nvSpPr>
        <p:spPr>
          <a:xfrm>
            <a:off x="685800" y="2953512"/>
            <a:ext cx="5724144" cy="640080"/>
          </a:xfrm>
          <a:prstGeom prst="rect">
            <a:avLst/>
          </a:prstGeom>
          <a:noFill/>
          <a:ln/>
        </p:spPr>
        <p:txBody>
          <a:bodyPr wrap="square" lIns="0" tIns="0" rIns="0" bIns="0" rtlCol="0" anchor="ctr"/>
          <a:lstStyle/>
          <a:p>
            <a:pPr indent="0" marL="0">
              <a:buNone/>
            </a:pPr>
            <a:r>
              <a:rPr lang="en-US" sz="1610" dirty="0">
                <a:solidFill>
                  <a:srgbClr val="C7D8D0"/>
                </a:solidFill>
                <a:latin typeface="Inter" pitchFamily="34" charset="0"/>
                <a:ea typeface="Inter" pitchFamily="34" charset="-122"/>
                <a:cs typeface="Inter" pitchFamily="34" charset="-120"/>
              </a:rPr>
              <a:t>Education spending, literacy by age, and what better graphics help us see.</a:t>
            </a:r>
            <a:endParaRPr lang="en-US" sz="1610" dirty="0"/>
          </a:p>
        </p:txBody>
      </p:sp>
      <p:sp>
        <p:nvSpPr>
          <p:cNvPr id="7" name="Shape 5"/>
          <p:cNvSpPr/>
          <p:nvPr/>
        </p:nvSpPr>
        <p:spPr>
          <a:xfrm>
            <a:off x="685800" y="3904488"/>
            <a:ext cx="5623560" cy="0"/>
          </a:xfrm>
          <a:prstGeom prst="line">
            <a:avLst/>
          </a:prstGeom>
          <a:noFill/>
          <a:ln w="12700">
            <a:solidFill>
              <a:srgbClr val="466155"/>
            </a:solidFill>
            <a:prstDash val="solid"/>
          </a:ln>
        </p:spPr>
      </p:sp>
      <p:sp>
        <p:nvSpPr>
          <p:cNvPr id="8" name="Text 6"/>
          <p:cNvSpPr/>
          <p:nvPr/>
        </p:nvSpPr>
        <p:spPr>
          <a:xfrm>
            <a:off x="685800" y="4197096"/>
            <a:ext cx="1828800" cy="237744"/>
          </a:xfrm>
          <a:prstGeom prst="rect">
            <a:avLst/>
          </a:prstGeom>
          <a:noFill/>
          <a:ln/>
        </p:spPr>
        <p:txBody>
          <a:bodyPr wrap="square" lIns="0" tIns="0" rIns="0" bIns="0" rtlCol="0" anchor="ctr"/>
          <a:lstStyle/>
          <a:p>
            <a:pPr indent="0" marL="0">
              <a:buNone/>
            </a:pPr>
            <a:r>
              <a:rPr lang="en-US" sz="950" b="1" spc="180" kern="0" dirty="0">
                <a:solidFill>
                  <a:srgbClr val="C9F071"/>
                </a:solidFill>
                <a:latin typeface="Inter" pitchFamily="34" charset="0"/>
                <a:ea typeface="Inter" pitchFamily="34" charset="-122"/>
                <a:cs typeface="Inter" pitchFamily="34" charset="-120"/>
              </a:rPr>
              <a:t>PREPARED BY</a:t>
            </a:r>
            <a:endParaRPr lang="en-US" sz="950" dirty="0"/>
          </a:p>
        </p:txBody>
      </p:sp>
      <p:sp>
        <p:nvSpPr>
          <p:cNvPr id="9" name="Text 7"/>
          <p:cNvSpPr/>
          <p:nvPr/>
        </p:nvSpPr>
        <p:spPr>
          <a:xfrm>
            <a:off x="685800" y="4489704"/>
            <a:ext cx="4297680" cy="411480"/>
          </a:xfrm>
          <a:prstGeom prst="rect">
            <a:avLst/>
          </a:prstGeom>
          <a:noFill/>
          <a:ln/>
        </p:spPr>
        <p:txBody>
          <a:bodyPr wrap="square" lIns="0" tIns="0" rIns="0" bIns="0" rtlCol="0" anchor="ctr"/>
          <a:lstStyle/>
          <a:p>
            <a:pPr indent="0" marL="0">
              <a:buNone/>
            </a:pPr>
            <a:r>
              <a:rPr lang="en-US" sz="2200" b="1" dirty="0">
                <a:solidFill>
                  <a:srgbClr val="FFFFFF"/>
                </a:solidFill>
                <a:latin typeface="Inter" pitchFamily="34" charset="0"/>
                <a:ea typeface="Inter" pitchFamily="34" charset="-122"/>
                <a:cs typeface="Inter" pitchFamily="34" charset="-120"/>
              </a:rPr>
              <a:t>Zainab Kamran</a:t>
            </a:r>
            <a:endParaRPr lang="en-US" sz="2200" dirty="0"/>
          </a:p>
        </p:txBody>
      </p:sp>
      <p:sp>
        <p:nvSpPr>
          <p:cNvPr id="10" name="Text 8"/>
          <p:cNvSpPr/>
          <p:nvPr/>
        </p:nvSpPr>
        <p:spPr>
          <a:xfrm>
            <a:off x="685800" y="5010912"/>
            <a:ext cx="5833872" cy="310896"/>
          </a:xfrm>
          <a:prstGeom prst="rect">
            <a:avLst/>
          </a:prstGeom>
          <a:noFill/>
          <a:ln/>
        </p:spPr>
        <p:txBody>
          <a:bodyPr wrap="square" lIns="0" tIns="0" rIns="0" bIns="0" rtlCol="0" anchor="ctr"/>
          <a:lstStyle/>
          <a:p>
            <a:pPr indent="0" marL="0">
              <a:buNone/>
            </a:pPr>
            <a:r>
              <a:rPr lang="en-US" sz="1040" dirty="0">
                <a:solidFill>
                  <a:srgbClr val="B7CFC3"/>
                </a:solidFill>
                <a:latin typeface="Inter" pitchFamily="34" charset="0"/>
                <a:ea typeface="Inter" pitchFamily="34" charset="-122"/>
                <a:cs typeface="Inter" pitchFamily="34" charset="-120"/>
              </a:rPr>
              <a:t>FA24-BEDS-080  /  COMSATS UNIVERSITY, LAHORE</a:t>
            </a:r>
            <a:endParaRPr lang="en-US" sz="1040" dirty="0"/>
          </a:p>
        </p:txBody>
      </p:sp>
      <p:sp>
        <p:nvSpPr>
          <p:cNvPr id="11" name="Shape 9"/>
          <p:cNvSpPr/>
          <p:nvPr/>
        </p:nvSpPr>
        <p:spPr>
          <a:xfrm>
            <a:off x="7315200" y="1188720"/>
            <a:ext cx="4224528" cy="4700016"/>
          </a:xfrm>
          <a:prstGeom prst="rect">
            <a:avLst>
              <a:gd name="adj" fmla="val 2597"/>
            </a:avLst>
          </a:prstGeom>
          <a:solidFill>
            <a:srgbClr val="203B33"/>
          </a:solidFill>
          <a:ln w="12700">
            <a:solidFill>
              <a:srgbClr val="203B33"/>
            </a:solidFill>
            <a:prstDash val="solid"/>
          </a:ln>
        </p:spPr>
      </p:sp>
      <p:sp>
        <p:nvSpPr>
          <p:cNvPr id="12" name="Text 10"/>
          <p:cNvSpPr/>
          <p:nvPr/>
        </p:nvSpPr>
        <p:spPr>
          <a:xfrm>
            <a:off x="7635240" y="1499616"/>
            <a:ext cx="3383280" cy="237744"/>
          </a:xfrm>
          <a:prstGeom prst="rect">
            <a:avLst/>
          </a:prstGeom>
          <a:noFill/>
          <a:ln/>
        </p:spPr>
        <p:txBody>
          <a:bodyPr wrap="square" lIns="0" tIns="0" rIns="0" bIns="0" rtlCol="0" anchor="ctr"/>
          <a:lstStyle/>
          <a:p>
            <a:pPr indent="0" marL="0">
              <a:buNone/>
            </a:pPr>
            <a:r>
              <a:rPr lang="en-US" sz="950" b="1" spc="180" kern="0" dirty="0">
                <a:solidFill>
                  <a:srgbClr val="C2D9CD"/>
                </a:solidFill>
                <a:latin typeface="Inter" pitchFamily="34" charset="0"/>
                <a:ea typeface="Inter" pitchFamily="34" charset="-122"/>
                <a:cs typeface="Inter" pitchFamily="34" charset="-120"/>
              </a:rPr>
              <a:t>GENDER GAP  /  11 AGE BANDS</a:t>
            </a:r>
            <a:endParaRPr lang="en-US" sz="950" dirty="0"/>
          </a:p>
        </p:txBody>
      </p:sp>
      <p:sp>
        <p:nvSpPr>
          <p:cNvPr id="13" name="Shape 11"/>
          <p:cNvSpPr/>
          <p:nvPr/>
        </p:nvSpPr>
        <p:spPr>
          <a:xfrm>
            <a:off x="7754112" y="4094948"/>
            <a:ext cx="192024" cy="248452"/>
          </a:xfrm>
          <a:prstGeom prst="rect">
            <a:avLst>
              <a:gd name="adj" fmla="val 57143"/>
            </a:avLst>
          </a:prstGeom>
          <a:solidFill>
            <a:srgbClr val="83B7A5"/>
          </a:solidFill>
          <a:ln w="12700">
            <a:solidFill>
              <a:srgbClr val="83B7A5"/>
            </a:solidFill>
            <a:prstDash val="solid"/>
          </a:ln>
        </p:spPr>
      </p:sp>
      <p:sp>
        <p:nvSpPr>
          <p:cNvPr id="14" name="Shape 12"/>
          <p:cNvSpPr/>
          <p:nvPr/>
        </p:nvSpPr>
        <p:spPr>
          <a:xfrm>
            <a:off x="8065008" y="4061259"/>
            <a:ext cx="192024" cy="282141"/>
          </a:xfrm>
          <a:prstGeom prst="rect">
            <a:avLst>
              <a:gd name="adj" fmla="val 57143"/>
            </a:avLst>
          </a:prstGeom>
          <a:solidFill>
            <a:srgbClr val="83B7A5"/>
          </a:solidFill>
          <a:ln w="12700">
            <a:solidFill>
              <a:srgbClr val="83B7A5"/>
            </a:solidFill>
            <a:prstDash val="solid"/>
          </a:ln>
        </p:spPr>
      </p:sp>
      <p:sp>
        <p:nvSpPr>
          <p:cNvPr id="15" name="Shape 13"/>
          <p:cNvSpPr/>
          <p:nvPr/>
        </p:nvSpPr>
        <p:spPr>
          <a:xfrm>
            <a:off x="8375904" y="3846496"/>
            <a:ext cx="192024" cy="496904"/>
          </a:xfrm>
          <a:prstGeom prst="rect">
            <a:avLst>
              <a:gd name="adj" fmla="val 57143"/>
            </a:avLst>
          </a:prstGeom>
          <a:solidFill>
            <a:srgbClr val="83B7A5"/>
          </a:solidFill>
          <a:ln w="12700">
            <a:solidFill>
              <a:srgbClr val="83B7A5"/>
            </a:solidFill>
            <a:prstDash val="solid"/>
          </a:ln>
        </p:spPr>
      </p:sp>
      <p:sp>
        <p:nvSpPr>
          <p:cNvPr id="16" name="Shape 14"/>
          <p:cNvSpPr/>
          <p:nvPr/>
        </p:nvSpPr>
        <p:spPr>
          <a:xfrm>
            <a:off x="8686800" y="3703320"/>
            <a:ext cx="192024" cy="640080"/>
          </a:xfrm>
          <a:prstGeom prst="rect">
            <a:avLst>
              <a:gd name="adj" fmla="val 57143"/>
            </a:avLst>
          </a:prstGeom>
          <a:solidFill>
            <a:srgbClr val="83B7A5"/>
          </a:solidFill>
          <a:ln w="12700">
            <a:solidFill>
              <a:srgbClr val="83B7A5"/>
            </a:solidFill>
            <a:prstDash val="solid"/>
          </a:ln>
        </p:spPr>
      </p:sp>
      <p:sp>
        <p:nvSpPr>
          <p:cNvPr id="17" name="Shape 15"/>
          <p:cNvSpPr/>
          <p:nvPr/>
        </p:nvSpPr>
        <p:spPr>
          <a:xfrm>
            <a:off x="8997696" y="3480134"/>
            <a:ext cx="192024" cy="863266"/>
          </a:xfrm>
          <a:prstGeom prst="rect">
            <a:avLst>
              <a:gd name="adj" fmla="val 57143"/>
            </a:avLst>
          </a:prstGeom>
          <a:solidFill>
            <a:srgbClr val="83B7A5"/>
          </a:solidFill>
          <a:ln w="12700">
            <a:solidFill>
              <a:srgbClr val="83B7A5"/>
            </a:solidFill>
            <a:prstDash val="solid"/>
          </a:ln>
        </p:spPr>
      </p:sp>
      <p:sp>
        <p:nvSpPr>
          <p:cNvPr id="18" name="Shape 16"/>
          <p:cNvSpPr/>
          <p:nvPr/>
        </p:nvSpPr>
        <p:spPr>
          <a:xfrm>
            <a:off x="9308592" y="3336958"/>
            <a:ext cx="192024" cy="1006442"/>
          </a:xfrm>
          <a:prstGeom prst="rect">
            <a:avLst>
              <a:gd name="adj" fmla="val 57143"/>
            </a:avLst>
          </a:prstGeom>
          <a:solidFill>
            <a:srgbClr val="83B7A5"/>
          </a:solidFill>
          <a:ln w="12700">
            <a:solidFill>
              <a:srgbClr val="83B7A5"/>
            </a:solidFill>
            <a:prstDash val="solid"/>
          </a:ln>
        </p:spPr>
      </p:sp>
      <p:sp>
        <p:nvSpPr>
          <p:cNvPr id="19" name="Shape 17"/>
          <p:cNvSpPr/>
          <p:nvPr/>
        </p:nvSpPr>
        <p:spPr>
          <a:xfrm>
            <a:off x="9619488" y="3054818"/>
            <a:ext cx="192024" cy="1288582"/>
          </a:xfrm>
          <a:prstGeom prst="rect">
            <a:avLst>
              <a:gd name="adj" fmla="val 57143"/>
            </a:avLst>
          </a:prstGeom>
          <a:solidFill>
            <a:srgbClr val="83B7A5"/>
          </a:solidFill>
          <a:ln w="12700">
            <a:solidFill>
              <a:srgbClr val="83B7A5"/>
            </a:solidFill>
            <a:prstDash val="solid"/>
          </a:ln>
        </p:spPr>
      </p:sp>
      <p:sp>
        <p:nvSpPr>
          <p:cNvPr id="20" name="Shape 18"/>
          <p:cNvSpPr/>
          <p:nvPr/>
        </p:nvSpPr>
        <p:spPr>
          <a:xfrm>
            <a:off x="9930384" y="3054818"/>
            <a:ext cx="192024" cy="1288582"/>
          </a:xfrm>
          <a:prstGeom prst="rect">
            <a:avLst>
              <a:gd name="adj" fmla="val 57143"/>
            </a:avLst>
          </a:prstGeom>
          <a:solidFill>
            <a:srgbClr val="83B7A5"/>
          </a:solidFill>
          <a:ln w="12700">
            <a:solidFill>
              <a:srgbClr val="83B7A5"/>
            </a:solidFill>
            <a:prstDash val="solid"/>
          </a:ln>
        </p:spPr>
      </p:sp>
      <p:sp>
        <p:nvSpPr>
          <p:cNvPr id="21" name="Shape 19"/>
          <p:cNvSpPr/>
          <p:nvPr/>
        </p:nvSpPr>
        <p:spPr>
          <a:xfrm>
            <a:off x="10241280" y="2861109"/>
            <a:ext cx="192024" cy="1482291"/>
          </a:xfrm>
          <a:prstGeom prst="rect">
            <a:avLst>
              <a:gd name="adj" fmla="val 57143"/>
            </a:avLst>
          </a:prstGeom>
          <a:solidFill>
            <a:srgbClr val="83B7A5"/>
          </a:solidFill>
          <a:ln w="12700">
            <a:solidFill>
              <a:srgbClr val="83B7A5"/>
            </a:solidFill>
            <a:prstDash val="solid"/>
          </a:ln>
        </p:spPr>
      </p:sp>
      <p:sp>
        <p:nvSpPr>
          <p:cNvPr id="22" name="Shape 20"/>
          <p:cNvSpPr/>
          <p:nvPr/>
        </p:nvSpPr>
        <p:spPr>
          <a:xfrm>
            <a:off x="10552176" y="2835843"/>
            <a:ext cx="192024" cy="1507557"/>
          </a:xfrm>
          <a:prstGeom prst="rect">
            <a:avLst>
              <a:gd name="adj" fmla="val 57143"/>
            </a:avLst>
          </a:prstGeom>
          <a:solidFill>
            <a:srgbClr val="C9F071"/>
          </a:solidFill>
          <a:ln w="12700">
            <a:solidFill>
              <a:srgbClr val="C9F071"/>
            </a:solidFill>
            <a:prstDash val="solid"/>
          </a:ln>
        </p:spPr>
      </p:sp>
      <p:sp>
        <p:nvSpPr>
          <p:cNvPr id="23" name="Shape 21"/>
          <p:cNvSpPr/>
          <p:nvPr/>
        </p:nvSpPr>
        <p:spPr>
          <a:xfrm>
            <a:off x="10863072" y="2945331"/>
            <a:ext cx="192024" cy="1398069"/>
          </a:xfrm>
          <a:prstGeom prst="rect">
            <a:avLst>
              <a:gd name="adj" fmla="val 57143"/>
            </a:avLst>
          </a:prstGeom>
          <a:solidFill>
            <a:srgbClr val="83B7A5"/>
          </a:solidFill>
          <a:ln w="12700">
            <a:solidFill>
              <a:srgbClr val="83B7A5"/>
            </a:solidFill>
            <a:prstDash val="solid"/>
          </a:ln>
        </p:spPr>
      </p:sp>
      <p:sp>
        <p:nvSpPr>
          <p:cNvPr id="24" name="Shape 22"/>
          <p:cNvSpPr/>
          <p:nvPr/>
        </p:nvSpPr>
        <p:spPr>
          <a:xfrm>
            <a:off x="7653528" y="4370832"/>
            <a:ext cx="3547872" cy="0"/>
          </a:xfrm>
          <a:prstGeom prst="line">
            <a:avLst/>
          </a:prstGeom>
          <a:noFill/>
          <a:ln w="10160">
            <a:solidFill>
              <a:srgbClr val="799C8E"/>
            </a:solidFill>
            <a:prstDash val="solid"/>
          </a:ln>
        </p:spPr>
      </p:sp>
      <p:sp>
        <p:nvSpPr>
          <p:cNvPr id="25" name="Text 23"/>
          <p:cNvSpPr/>
          <p:nvPr/>
        </p:nvSpPr>
        <p:spPr>
          <a:xfrm>
            <a:off x="7607808" y="4489704"/>
            <a:ext cx="731520" cy="192024"/>
          </a:xfrm>
          <a:prstGeom prst="rect">
            <a:avLst/>
          </a:prstGeom>
          <a:noFill/>
          <a:ln/>
        </p:spPr>
        <p:txBody>
          <a:bodyPr wrap="square" lIns="0" tIns="0" rIns="0" bIns="0" rtlCol="0" anchor="ctr"/>
          <a:lstStyle/>
          <a:p>
            <a:pPr indent="0" marL="0">
              <a:buNone/>
            </a:pPr>
            <a:r>
              <a:rPr lang="en-US" sz="840" dirty="0">
                <a:solidFill>
                  <a:srgbClr val="D4E3DB"/>
                </a:solidFill>
                <a:latin typeface="Inter" pitchFamily="34" charset="0"/>
                <a:ea typeface="Inter" pitchFamily="34" charset="-122"/>
                <a:cs typeface="Inter" pitchFamily="34" charset="-120"/>
              </a:rPr>
              <a:t>10–14</a:t>
            </a:r>
            <a:endParaRPr lang="en-US" sz="840" dirty="0"/>
          </a:p>
        </p:txBody>
      </p:sp>
      <p:sp>
        <p:nvSpPr>
          <p:cNvPr id="26" name="Text 24"/>
          <p:cNvSpPr/>
          <p:nvPr/>
        </p:nvSpPr>
        <p:spPr>
          <a:xfrm>
            <a:off x="10451592" y="4489704"/>
            <a:ext cx="731520" cy="192024"/>
          </a:xfrm>
          <a:prstGeom prst="rect">
            <a:avLst/>
          </a:prstGeom>
          <a:noFill/>
          <a:ln/>
        </p:spPr>
        <p:txBody>
          <a:bodyPr wrap="square" lIns="0" tIns="0" rIns="0" bIns="0" rtlCol="0" anchor="ctr"/>
          <a:lstStyle/>
          <a:p>
            <a:pPr indent="0" marL="0">
              <a:buNone/>
            </a:pPr>
            <a:r>
              <a:rPr lang="en-US" sz="840" dirty="0">
                <a:solidFill>
                  <a:srgbClr val="D4E3DB"/>
                </a:solidFill>
                <a:latin typeface="Inter" pitchFamily="34" charset="0"/>
                <a:ea typeface="Inter" pitchFamily="34" charset="-122"/>
                <a:cs typeface="Inter" pitchFamily="34" charset="-120"/>
              </a:rPr>
              <a:t>55–59</a:t>
            </a:r>
            <a:endParaRPr lang="en-US" sz="840" dirty="0"/>
          </a:p>
        </p:txBody>
      </p:sp>
      <p:sp>
        <p:nvSpPr>
          <p:cNvPr id="27" name="Text 25"/>
          <p:cNvSpPr/>
          <p:nvPr/>
        </p:nvSpPr>
        <p:spPr>
          <a:xfrm>
            <a:off x="7635240" y="4946904"/>
            <a:ext cx="2240280" cy="585216"/>
          </a:xfrm>
          <a:prstGeom prst="rect">
            <a:avLst/>
          </a:prstGeom>
          <a:noFill/>
          <a:ln/>
        </p:spPr>
        <p:txBody>
          <a:bodyPr wrap="square" lIns="0" tIns="0" rIns="0" bIns="0" rtlCol="0" anchor="ctr"/>
          <a:lstStyle/>
          <a:p>
            <a:pPr indent="0" marL="0">
              <a:buNone/>
            </a:pPr>
            <a:r>
              <a:rPr lang="en-US" sz="4200" b="1" dirty="0">
                <a:solidFill>
                  <a:srgbClr val="C9F071"/>
                </a:solidFill>
                <a:latin typeface="Inter Display" pitchFamily="34" charset="0"/>
                <a:ea typeface="Inter Display" pitchFamily="34" charset="-122"/>
                <a:cs typeface="Inter Display" pitchFamily="34" charset="-120"/>
              </a:rPr>
              <a:t>35.8</a:t>
            </a:r>
            <a:endParaRPr lang="en-US" sz="4200" dirty="0"/>
          </a:p>
        </p:txBody>
      </p:sp>
      <p:sp>
        <p:nvSpPr>
          <p:cNvPr id="28" name="Text 26"/>
          <p:cNvSpPr/>
          <p:nvPr/>
        </p:nvSpPr>
        <p:spPr>
          <a:xfrm>
            <a:off x="10104120" y="5212080"/>
            <a:ext cx="548640" cy="283464"/>
          </a:xfrm>
          <a:prstGeom prst="rect">
            <a:avLst/>
          </a:prstGeom>
          <a:noFill/>
          <a:ln/>
        </p:spPr>
        <p:txBody>
          <a:bodyPr wrap="square" lIns="0" tIns="0" rIns="0" bIns="0" rtlCol="0" anchor="ctr"/>
          <a:lstStyle/>
          <a:p>
            <a:pPr indent="0" marL="0">
              <a:buNone/>
            </a:pPr>
            <a:r>
              <a:rPr lang="en-US" sz="1900" b="1" dirty="0">
                <a:solidFill>
                  <a:srgbClr val="C9F071"/>
                </a:solidFill>
                <a:latin typeface="Inter" pitchFamily="34" charset="0"/>
                <a:ea typeface="Inter" pitchFamily="34" charset="-122"/>
                <a:cs typeface="Inter" pitchFamily="34" charset="-120"/>
              </a:rPr>
              <a:t>pp</a:t>
            </a:r>
            <a:endParaRPr lang="en-US" sz="1900" dirty="0"/>
          </a:p>
        </p:txBody>
      </p:sp>
      <p:sp>
        <p:nvSpPr>
          <p:cNvPr id="29" name="Text 27"/>
          <p:cNvSpPr/>
          <p:nvPr/>
        </p:nvSpPr>
        <p:spPr>
          <a:xfrm>
            <a:off x="7635240" y="5705856"/>
            <a:ext cx="3566160" cy="320040"/>
          </a:xfrm>
          <a:prstGeom prst="rect">
            <a:avLst/>
          </a:prstGeom>
          <a:noFill/>
          <a:ln/>
        </p:spPr>
        <p:txBody>
          <a:bodyPr wrap="square" lIns="0" tIns="0" rIns="0" bIns="0" rtlCol="0" anchor="ctr"/>
          <a:lstStyle/>
          <a:p>
            <a:pPr indent="0" marL="0">
              <a:buNone/>
            </a:pPr>
            <a:r>
              <a:rPr lang="en-US" sz="1120" dirty="0">
                <a:solidFill>
                  <a:srgbClr val="D4E5DB"/>
                </a:solidFill>
                <a:latin typeface="Inter" pitchFamily="34" charset="0"/>
                <a:ea typeface="Inter" pitchFamily="34" charset="-122"/>
                <a:cs typeface="Inter" pitchFamily="34" charset="-120"/>
              </a:rPr>
              <a:t>largest male–female literacy gap  /  ages 55–59</a:t>
            </a:r>
            <a:endParaRPr lang="en-US" sz="1120" dirty="0"/>
          </a:p>
        </p:txBody>
      </p:sp>
      <p:sp>
        <p:nvSpPr>
          <p:cNvPr id="30" name="Text 28"/>
          <p:cNvSpPr/>
          <p:nvPr/>
        </p:nvSpPr>
        <p:spPr>
          <a:xfrm>
            <a:off x="640080" y="6556248"/>
            <a:ext cx="8229600" cy="146304"/>
          </a:xfrm>
          <a:prstGeom prst="rect">
            <a:avLst/>
          </a:prstGeom>
          <a:noFill/>
          <a:ln/>
        </p:spPr>
        <p:txBody>
          <a:bodyPr wrap="square" lIns="0" tIns="0" rIns="0" bIns="0" rtlCol="0" anchor="ctr"/>
          <a:lstStyle/>
          <a:p>
            <a:pPr indent="0" marL="0">
              <a:buNone/>
            </a:pPr>
            <a:r>
              <a:rPr lang="en-US" sz="780" b="1" spc="100" kern="0" dirty="0">
                <a:solidFill>
                  <a:srgbClr val="A8C1B5"/>
                </a:solidFill>
                <a:latin typeface="Inter" pitchFamily="34" charset="0"/>
                <a:ea typeface="Inter" pitchFamily="34" charset="-122"/>
                <a:cs typeface="Inter" pitchFamily="34" charset="-120"/>
              </a:rPr>
              <a:t>PSLM 2019–20  /  RURAL PUNJAB  /  VARIANT 0</a:t>
            </a:r>
            <a:endParaRPr lang="en-US" sz="780" dirty="0"/>
          </a:p>
        </p:txBody>
      </p:sp>
      <p:sp>
        <p:nvSpPr>
          <p:cNvPr id="31" name="Text 29"/>
          <p:cNvSpPr/>
          <p:nvPr/>
        </p:nvSpPr>
        <p:spPr>
          <a:xfrm>
            <a:off x="10972800" y="6537960"/>
            <a:ext cx="548640" cy="182880"/>
          </a:xfrm>
          <a:prstGeom prst="rect">
            <a:avLst/>
          </a:prstGeom>
          <a:noFill/>
          <a:ln/>
        </p:spPr>
        <p:txBody>
          <a:bodyPr wrap="square" lIns="0" tIns="0" rIns="0" bIns="0" rtlCol="0" anchor="ctr"/>
          <a:lstStyle/>
          <a:p>
            <a:pPr algn="r" indent="0" marL="0">
              <a:buNone/>
            </a:pPr>
            <a:r>
              <a:rPr lang="en-US" sz="900" b="1" dirty="0">
                <a:solidFill>
                  <a:srgbClr val="A8C1B5"/>
                </a:solidFill>
                <a:latin typeface="Inter" pitchFamily="34" charset="0"/>
                <a:ea typeface="Inter" pitchFamily="34" charset="-122"/>
                <a:cs typeface="Inter" pitchFamily="34" charset="-120"/>
              </a:rPr>
              <a:t>01 / 04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Text 0"/>
          <p:cNvSpPr/>
          <p:nvPr/>
        </p:nvSpPr>
        <p:spPr>
          <a:xfrm>
            <a:off x="640080" y="484632"/>
            <a:ext cx="5943600" cy="237744"/>
          </a:xfrm>
          <a:prstGeom prst="rect">
            <a:avLst/>
          </a:prstGeom>
          <a:noFill/>
          <a:ln/>
        </p:spPr>
        <p:txBody>
          <a:bodyPr wrap="square" lIns="0" tIns="0" rIns="0" bIns="0" rtlCol="0" anchor="ctr"/>
          <a:lstStyle/>
          <a:p>
            <a:pPr indent="0" marL="0">
              <a:buNone/>
            </a:pPr>
            <a:r>
              <a:rPr lang="en-US" sz="950" b="1" spc="180" kern="0" dirty="0">
                <a:solidFill>
                  <a:srgbClr val="2E8373"/>
                </a:solidFill>
                <a:latin typeface="Inter" pitchFamily="34" charset="0"/>
                <a:ea typeface="Inter" pitchFamily="34" charset="-122"/>
                <a:cs typeface="Inter" pitchFamily="34" charset="-120"/>
              </a:rPr>
              <a:t>02   /   EDUCATION EXPENDITURE</a:t>
            </a:r>
            <a:endParaRPr lang="en-US" sz="950" dirty="0"/>
          </a:p>
        </p:txBody>
      </p:sp>
      <p:sp>
        <p:nvSpPr>
          <p:cNvPr id="3" name="Text 1"/>
          <p:cNvSpPr/>
          <p:nvPr/>
        </p:nvSpPr>
        <p:spPr>
          <a:xfrm>
            <a:off x="640080" y="841248"/>
            <a:ext cx="10927080" cy="502920"/>
          </a:xfrm>
          <a:prstGeom prst="rect">
            <a:avLst/>
          </a:prstGeom>
          <a:noFill/>
          <a:ln/>
        </p:spPr>
        <p:txBody>
          <a:bodyPr wrap="square" lIns="0" tIns="0" rIns="0" bIns="0" rtlCol="0" anchor="ctr"/>
          <a:lstStyle/>
          <a:p>
            <a:pPr indent="0" marL="0">
              <a:buNone/>
            </a:pPr>
            <a:r>
              <a:rPr lang="en-US" sz="2950" b="1" dirty="0">
                <a:solidFill>
                  <a:srgbClr val="172A27"/>
                </a:solidFill>
                <a:latin typeface="Inter Display" pitchFamily="34" charset="0"/>
                <a:ea typeface="Inter Display" pitchFamily="34" charset="-122"/>
                <a:cs typeface="Inter Display" pitchFamily="34" charset="-120"/>
              </a:rPr>
              <a:t>Spending needs more than an average.</a:t>
            </a:r>
            <a:endParaRPr lang="en-US" sz="2950" dirty="0"/>
          </a:p>
        </p:txBody>
      </p:sp>
      <p:sp>
        <p:nvSpPr>
          <p:cNvPr id="4" name="Text 2"/>
          <p:cNvSpPr/>
          <p:nvPr/>
        </p:nvSpPr>
        <p:spPr>
          <a:xfrm>
            <a:off x="658368" y="1371600"/>
            <a:ext cx="10607040" cy="274320"/>
          </a:xfrm>
          <a:prstGeom prst="rect">
            <a:avLst/>
          </a:prstGeom>
          <a:noFill/>
          <a:ln/>
        </p:spPr>
        <p:txBody>
          <a:bodyPr wrap="square" lIns="0" tIns="0" rIns="0" bIns="0" rtlCol="0" anchor="ctr"/>
          <a:lstStyle/>
          <a:p>
            <a:pPr indent="0" marL="0">
              <a:buNone/>
            </a:pPr>
            <a:r>
              <a:rPr lang="en-US" sz="1300" dirty="0">
                <a:solidFill>
                  <a:srgbClr val="6A7C74"/>
                </a:solidFill>
                <a:latin typeface="Inter" pitchFamily="34" charset="0"/>
                <a:ea typeface="Inter" pitchFamily="34" charset="-122"/>
                <a:cs typeface="Inter" pitchFamily="34" charset="-120"/>
              </a:rPr>
              <a:t>9,173 students  /  Weighted median Rs 6,600  /  P90 Rs 30,000</a:t>
            </a:r>
            <a:endParaRPr lang="en-US" sz="1260" dirty="0"/>
          </a:p>
        </p:txBody>
      </p:sp>
      <p:sp>
        <p:nvSpPr>
          <p:cNvPr id="5" name="Shape 3"/>
          <p:cNvSpPr/>
          <p:nvPr/>
        </p:nvSpPr>
        <p:spPr>
          <a:xfrm>
            <a:off x="658368" y="1874520"/>
            <a:ext cx="7379208" cy="4133088"/>
          </a:xfrm>
          <a:prstGeom prst="rect">
            <a:avLst>
              <a:gd name="adj" fmla="val 2655"/>
            </a:avLst>
          </a:prstGeom>
          <a:solidFill>
            <a:srgbClr val="FFFFFF"/>
          </a:solidFill>
          <a:ln w="12700">
            <a:solidFill>
              <a:srgbClr val="FFFFFF"/>
            </a:solidFill>
            <a:prstDash val="solid"/>
          </a:ln>
        </p:spPr>
      </p:sp>
      <p:sp>
        <p:nvSpPr>
          <p:cNvPr id="25" name="Shape 23"/>
          <p:cNvSpPr/>
          <p:nvPr/>
        </p:nvSpPr>
        <p:spPr>
          <a:xfrm>
            <a:off x="8266176" y="1874520"/>
            <a:ext cx="3273552" cy="4133088"/>
          </a:xfrm>
          <a:prstGeom prst="rect">
            <a:avLst>
              <a:gd name="adj" fmla="val 3352"/>
            </a:avLst>
          </a:prstGeom>
          <a:solidFill>
            <a:srgbClr val="142924"/>
          </a:solidFill>
          <a:ln w="12700">
            <a:solidFill>
              <a:srgbClr val="142924"/>
            </a:solidFill>
            <a:prstDash val="solid"/>
          </a:ln>
        </p:spPr>
      </p:sp>
      <p:sp>
        <p:nvSpPr>
          <p:cNvPr id="26" name="Text 24"/>
          <p:cNvSpPr/>
          <p:nvPr/>
        </p:nvSpPr>
        <p:spPr>
          <a:xfrm>
            <a:off x="8549640" y="2176272"/>
            <a:ext cx="2651760" cy="237744"/>
          </a:xfrm>
          <a:prstGeom prst="rect">
            <a:avLst/>
          </a:prstGeom>
          <a:noFill/>
          <a:ln/>
        </p:spPr>
        <p:txBody>
          <a:bodyPr wrap="square" lIns="0" tIns="0" rIns="0" bIns="0" rtlCol="0" anchor="ctr"/>
          <a:lstStyle/>
          <a:p>
            <a:pPr indent="0" marL="0">
              <a:buNone/>
            </a:pPr>
            <a:r>
              <a:rPr lang="en-US" sz="950" b="1" spc="180" kern="0" dirty="0">
                <a:solidFill>
                  <a:srgbClr val="C9F071"/>
                </a:solidFill>
                <a:latin typeface="Inter" pitchFamily="34" charset="0"/>
                <a:ea typeface="Inter" pitchFamily="34" charset="-122"/>
                <a:cs typeface="Inter" pitchFamily="34" charset="-120"/>
              </a:rPr>
              <a:t>HOW TO READ THIS FIGURE</a:t>
            </a:r>
            <a:endParaRPr lang="en-US" sz="950" dirty="0"/>
          </a:p>
        </p:txBody>
      </p:sp>
      <p:sp>
        <p:nvSpPr>
          <p:cNvPr id="27" name="Shape 25"/>
          <p:cNvSpPr/>
          <p:nvPr/>
        </p:nvSpPr>
        <p:spPr>
          <a:xfrm>
            <a:off x="8558784" y="2578608"/>
            <a:ext cx="2606040" cy="0"/>
          </a:xfrm>
          <a:prstGeom prst="line">
            <a:avLst/>
          </a:prstGeom>
          <a:noFill/>
          <a:ln w="12700">
            <a:solidFill>
              <a:srgbClr val="537063"/>
            </a:solidFill>
            <a:prstDash val="solid"/>
          </a:ln>
        </p:spPr>
      </p:sp>
      <p:sp>
        <p:nvSpPr>
          <p:cNvPr id="28" name="Text 26"/>
          <p:cNvSpPr/>
          <p:nvPr/>
        </p:nvSpPr>
        <p:spPr>
          <a:xfrm>
            <a:off x="8558784" y="2761488"/>
            <a:ext cx="2615184" cy="237744"/>
          </a:xfrm>
          <a:prstGeom prst="rect">
            <a:avLst/>
          </a:prstGeom>
          <a:noFill/>
          <a:ln/>
        </p:spPr>
        <p:txBody>
          <a:bodyPr wrap="square" lIns="0" tIns="0" rIns="0" bIns="0" rtlCol="0" anchor="ctr"/>
          <a:lstStyle/>
          <a:p>
            <a:pPr indent="0" marL="0">
              <a:buNone/>
            </a:pPr>
            <a:r>
              <a:rPr lang="en-US" sz="950" b="1" spc="180" kern="0" dirty="0">
                <a:solidFill>
                  <a:srgbClr val="D8E6DE"/>
                </a:solidFill>
                <a:latin typeface="Inter" pitchFamily="34" charset="0"/>
                <a:ea typeface="Inter" pitchFamily="34" charset="-122"/>
                <a:cs typeface="Inter" pitchFamily="34" charset="-120"/>
              </a:rPr>
              <a:t>01  /  LOGARITHMIC X-AXIS</a:t>
            </a:r>
            <a:endParaRPr lang="en-US" sz="950" dirty="0"/>
          </a:p>
        </p:txBody>
      </p:sp>
      <p:sp>
        <p:nvSpPr>
          <p:cNvPr id="29" name="Text 27"/>
          <p:cNvSpPr/>
          <p:nvPr/>
        </p:nvSpPr>
        <p:spPr>
          <a:xfrm>
            <a:off x="8558784" y="3035808"/>
            <a:ext cx="2706624" cy="338328"/>
          </a:xfrm>
          <a:prstGeom prst="rect">
            <a:avLst/>
          </a:prstGeom>
          <a:noFill/>
          <a:ln/>
        </p:spPr>
        <p:txBody>
          <a:bodyPr wrap="square" lIns="0" tIns="0" rIns="0" bIns="0" rtlCol="0" anchor="ctr"/>
          <a:lstStyle/>
          <a:p>
            <a:pPr indent="0" marL="0">
              <a:buNone/>
            </a:pPr>
            <a:r>
              <a:rPr lang="en-US" sz="1320" b="1" dirty="0">
                <a:solidFill>
                  <a:srgbClr val="FFFFFF"/>
                </a:solidFill>
                <a:latin typeface="Inter" pitchFamily="34" charset="0"/>
                <a:ea typeface="Inter" pitchFamily="34" charset="-122"/>
                <a:cs typeface="Inter" pitchFamily="34" charset="-120"/>
              </a:rPr>
              <a:t>Rs 100 → Rs 1,000,000</a:t>
            </a:r>
            <a:endParaRPr lang="en-US" sz="1320" dirty="0"/>
          </a:p>
        </p:txBody>
      </p:sp>
      <p:sp>
        <p:nvSpPr>
          <p:cNvPr id="30" name="Shape 28"/>
          <p:cNvSpPr/>
          <p:nvPr/>
        </p:nvSpPr>
        <p:spPr>
          <a:xfrm>
            <a:off x="8558784" y="3502152"/>
            <a:ext cx="2606040" cy="0"/>
          </a:xfrm>
          <a:prstGeom prst="line">
            <a:avLst/>
          </a:prstGeom>
          <a:noFill/>
          <a:ln w="12700">
            <a:solidFill>
              <a:srgbClr val="537063"/>
            </a:solidFill>
            <a:prstDash val="solid"/>
          </a:ln>
        </p:spPr>
      </p:sp>
      <p:sp>
        <p:nvSpPr>
          <p:cNvPr id="31" name="Text 29"/>
          <p:cNvSpPr/>
          <p:nvPr/>
        </p:nvSpPr>
        <p:spPr>
          <a:xfrm>
            <a:off x="8558784" y="3694176"/>
            <a:ext cx="2615184" cy="237744"/>
          </a:xfrm>
          <a:prstGeom prst="rect">
            <a:avLst/>
          </a:prstGeom>
          <a:noFill/>
          <a:ln/>
        </p:spPr>
        <p:txBody>
          <a:bodyPr wrap="square" lIns="0" tIns="0" rIns="0" bIns="0" rtlCol="0" anchor="ctr"/>
          <a:lstStyle/>
          <a:p>
            <a:pPr indent="0" marL="0">
              <a:buNone/>
            </a:pPr>
            <a:r>
              <a:rPr lang="en-US" sz="1000" b="1" spc="180" kern="0" dirty="0">
                <a:solidFill>
                  <a:srgbClr val="D8E6DE"/>
                </a:solidFill>
                <a:latin typeface="Inter" pitchFamily="34" charset="0"/>
                <a:ea typeface="Inter" pitchFamily="34" charset="-122"/>
                <a:cs typeface="Inter" pitchFamily="34" charset="-120"/>
              </a:rPr>
              <a:t>02  /  TYPICAL SPENDING</a:t>
            </a:r>
            <a:endParaRPr lang="en-US" sz="950" dirty="0"/>
          </a:p>
        </p:txBody>
      </p:sp>
      <p:sp>
        <p:nvSpPr>
          <p:cNvPr id="32" name="Text 30"/>
          <p:cNvSpPr/>
          <p:nvPr/>
        </p:nvSpPr>
        <p:spPr>
          <a:xfrm>
            <a:off x="8558784" y="3995928"/>
            <a:ext cx="2660904" cy="521208"/>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Weighted median: Rs 6,600</a:t>
            </a:r>
            <a:endParaRPr lang="en-US" sz="1280" dirty="0"/>
          </a:p>
        </p:txBody>
      </p:sp>
      <p:sp>
        <p:nvSpPr>
          <p:cNvPr id="33" name="Shape 31"/>
          <p:cNvSpPr/>
          <p:nvPr/>
        </p:nvSpPr>
        <p:spPr>
          <a:xfrm>
            <a:off x="8558784" y="4590288"/>
            <a:ext cx="2606040" cy="0"/>
          </a:xfrm>
          <a:prstGeom prst="line">
            <a:avLst/>
          </a:prstGeom>
          <a:noFill/>
          <a:ln w="12700">
            <a:solidFill>
              <a:srgbClr val="537063"/>
            </a:solidFill>
            <a:prstDash val="solid"/>
          </a:ln>
        </p:spPr>
      </p:sp>
      <p:sp>
        <p:nvSpPr>
          <p:cNvPr id="34" name="Text 32"/>
          <p:cNvSpPr/>
          <p:nvPr/>
        </p:nvSpPr>
        <p:spPr>
          <a:xfrm>
            <a:off x="8558784" y="4754880"/>
            <a:ext cx="2615184" cy="237744"/>
          </a:xfrm>
          <a:prstGeom prst="rect">
            <a:avLst/>
          </a:prstGeom>
          <a:noFill/>
          <a:ln/>
        </p:spPr>
        <p:txBody>
          <a:bodyPr wrap="square" lIns="0" tIns="0" rIns="0" bIns="0" rtlCol="0" anchor="ctr"/>
          <a:lstStyle/>
          <a:p>
            <a:pPr indent="0" marL="0">
              <a:buNone/>
            </a:pPr>
            <a:r>
              <a:rPr lang="en-US" sz="1000" b="1" spc="180" kern="0" dirty="0">
                <a:solidFill>
                  <a:srgbClr val="D8E6DE"/>
                </a:solidFill>
                <a:latin typeface="Inter" pitchFamily="34" charset="0"/>
                <a:ea typeface="Inter" pitchFamily="34" charset="-122"/>
                <a:cs typeface="Inter" pitchFamily="34" charset="-120"/>
              </a:rPr>
              <a:t>03  /  HIGHER SPENDING</a:t>
            </a:r>
            <a:endParaRPr lang="en-US" sz="950" dirty="0"/>
          </a:p>
        </p:txBody>
      </p:sp>
      <p:sp>
        <p:nvSpPr>
          <p:cNvPr id="35" name="Text 33"/>
          <p:cNvSpPr/>
          <p:nvPr/>
        </p:nvSpPr>
        <p:spPr>
          <a:xfrm>
            <a:off x="8558784" y="5084064"/>
            <a:ext cx="2651760" cy="512064"/>
          </a:xfrm>
          <a:prstGeom prst="rect">
            <a:avLst/>
          </a:prstGeom>
          <a:noFill/>
          <a:ln/>
        </p:spPr>
        <p:txBody>
          <a:bodyPr wrap="square" lIns="0" tIns="0" rIns="0" bIns="0" rtlCol="0" anchor="ctr"/>
          <a:lstStyle/>
          <a:p>
            <a:pPr indent="0" marL="0">
              <a:buNone/>
            </a:pPr>
            <a:r>
              <a:rPr lang="en-US" sz="1100" dirty="0">
                <a:solidFill>
                  <a:srgbClr val="FFFFFF"/>
                </a:solidFill>
                <a:latin typeface="Inter" pitchFamily="34" charset="0"/>
                <a:ea typeface="Inter" pitchFamily="34" charset="-122"/>
                <a:cs typeface="Inter" pitchFamily="34" charset="-120"/>
              </a:rPr>
              <a:t>P90: Rs 30,000  |  15× P10</a:t>
            </a:r>
            <a:endParaRPr lang="en-US" sz="1260" dirty="0"/>
          </a:p>
        </p:txBody>
      </p:sp>
      <p:sp>
        <p:nvSpPr>
          <p:cNvPr id="36" name="Text 34"/>
          <p:cNvSpPr/>
          <p:nvPr/>
        </p:nvSpPr>
        <p:spPr>
          <a:xfrm>
            <a:off x="640080" y="6556248"/>
            <a:ext cx="8229600" cy="146304"/>
          </a:xfrm>
          <a:prstGeom prst="rect">
            <a:avLst/>
          </a:prstGeom>
          <a:noFill/>
          <a:ln/>
        </p:spPr>
        <p:txBody>
          <a:bodyPr wrap="square" lIns="0" tIns="0" rIns="0" bIns="0" rtlCol="0" anchor="ctr"/>
          <a:lstStyle/>
          <a:p>
            <a:pPr indent="0" marL="0">
              <a:buNone/>
            </a:pPr>
            <a:r>
              <a:rPr lang="en-US" sz="780" b="1" spc="100" kern="0" dirty="0">
                <a:solidFill>
                  <a:srgbClr val="6A7C74"/>
                </a:solidFill>
                <a:latin typeface="Inter" pitchFamily="34" charset="0"/>
                <a:ea typeface="Inter" pitchFamily="34" charset="-122"/>
                <a:cs typeface="Inter" pitchFamily="34" charset="-120"/>
              </a:rPr>
              <a:t>PSLM 2019–20  /  RURAL PUNJAB  /  VARIANT 0</a:t>
            </a:r>
            <a:endParaRPr lang="en-US" sz="780" dirty="0"/>
          </a:p>
        </p:txBody>
      </p:sp>
      <p:sp>
        <p:nvSpPr>
          <p:cNvPr id="37" name="Text 35"/>
          <p:cNvSpPr/>
          <p:nvPr/>
        </p:nvSpPr>
        <p:spPr>
          <a:xfrm>
            <a:off x="10972800" y="6537960"/>
            <a:ext cx="548640" cy="182880"/>
          </a:xfrm>
          <a:prstGeom prst="rect">
            <a:avLst/>
          </a:prstGeom>
          <a:noFill/>
          <a:ln/>
        </p:spPr>
        <p:txBody>
          <a:bodyPr wrap="square" lIns="0" tIns="0" rIns="0" bIns="0" rtlCol="0" anchor="ctr"/>
          <a:lstStyle/>
          <a:p>
            <a:pPr algn="r" indent="0" marL="0">
              <a:buNone/>
            </a:pPr>
            <a:r>
              <a:rPr lang="en-US" sz="900" b="1" dirty="0">
                <a:solidFill>
                  <a:srgbClr val="6A7C74"/>
                </a:solidFill>
                <a:latin typeface="Inter" pitchFamily="34" charset="0"/>
                <a:ea typeface="Inter" pitchFamily="34" charset="-122"/>
                <a:cs typeface="Inter" pitchFamily="34" charset="-120"/>
              </a:rPr>
              <a:t>02 / 04</a:t>
            </a:r>
            <a:endParaRPr lang="en-US" sz="900" dirty="0"/>
          </a:p>
        </p:txBody>
      </p:sp>
      <p:pic>
        <p:nvPicPr>
          <p:cNvPr id="38" name="Picture 37" descr="Weighted spending histogram for rural Punjab"/>
          <p:cNvPicPr>
            <a:picLocks noChangeAspect="1"/>
          </p:cNvPicPr>
          <p:nvPr/>
        </p:nvPicPr>
        <p:blipFill>
          <a:blip r:embed="rId3"/>
          <a:stretch>
            <a:fillRect/>
          </a:stretch>
        </p:blipFill>
        <p:spPr>
          <a:xfrm>
            <a:off x="868680" y="1895551"/>
            <a:ext cx="6830568" cy="40983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ED"/>
        </a:solidFill>
      </p:bgPr>
    </p:bg>
    <p:spTree>
      <p:nvGrpSpPr>
        <p:cNvPr id="1" name=""/>
        <p:cNvGrpSpPr/>
        <p:nvPr/>
      </p:nvGrpSpPr>
      <p:grpSpPr>
        <a:xfrm>
          <a:off x="0" y="0"/>
          <a:ext cx="0" cy="0"/>
          <a:chOff x="0" y="0"/>
          <a:chExt cx="0" cy="0"/>
        </a:xfrm>
      </p:grpSpPr>
      <p:sp>
        <p:nvSpPr>
          <p:cNvPr id="2" name="Text 0"/>
          <p:cNvSpPr/>
          <p:nvPr/>
        </p:nvSpPr>
        <p:spPr>
          <a:xfrm>
            <a:off x="640080" y="384048"/>
            <a:ext cx="4663440" cy="237744"/>
          </a:xfrm>
          <a:prstGeom prst="rect">
            <a:avLst/>
          </a:prstGeom>
          <a:noFill/>
          <a:ln/>
        </p:spPr>
        <p:txBody>
          <a:bodyPr wrap="square" lIns="0" tIns="0" rIns="0" bIns="0" rtlCol="0" anchor="ctr"/>
          <a:lstStyle/>
          <a:p>
            <a:pPr indent="0" marL="0">
              <a:buNone/>
            </a:pPr>
            <a:r>
              <a:rPr lang="en-US" sz="950" b="1" spc="180" kern="0" dirty="0">
                <a:solidFill>
                  <a:srgbClr val="2E8373"/>
                </a:solidFill>
                <a:latin typeface="Inter" pitchFamily="34" charset="0"/>
                <a:ea typeface="Inter" pitchFamily="34" charset="-122"/>
                <a:cs typeface="Inter" pitchFamily="34" charset="-120"/>
              </a:rPr>
              <a:t>03   /   THE MAKEOVER</a:t>
            </a:r>
            <a:endParaRPr lang="en-US" sz="950" dirty="0"/>
          </a:p>
        </p:txBody>
      </p:sp>
      <p:sp>
        <p:nvSpPr>
          <p:cNvPr id="3" name="Text 1"/>
          <p:cNvSpPr/>
          <p:nvPr/>
        </p:nvSpPr>
        <p:spPr>
          <a:xfrm>
            <a:off x="621792" y="749808"/>
            <a:ext cx="10881360" cy="502920"/>
          </a:xfrm>
          <a:prstGeom prst="rect">
            <a:avLst/>
          </a:prstGeom>
          <a:noFill/>
          <a:ln/>
        </p:spPr>
        <p:txBody>
          <a:bodyPr wrap="square" lIns="0" tIns="0" rIns="0" bIns="0" rtlCol="0" anchor="ctr"/>
          <a:lstStyle/>
          <a:p>
            <a:pPr indent="0" marL="0">
              <a:buNone/>
            </a:pPr>
            <a:r>
              <a:rPr lang="en-US" sz="2970" b="1" dirty="0">
                <a:solidFill>
                  <a:srgbClr val="172A27"/>
                </a:solidFill>
                <a:latin typeface="Inter Display" pitchFamily="34" charset="0"/>
                <a:ea typeface="Inter Display" pitchFamily="34" charset="-122"/>
                <a:cs typeface="Inter Display" pitchFamily="34" charset="-120"/>
              </a:rPr>
              <a:t>Raw points hide the gender pattern.</a:t>
            </a:r>
            <a:endParaRPr lang="en-US" sz="2970" dirty="0"/>
          </a:p>
        </p:txBody>
      </p:sp>
      <p:sp>
        <p:nvSpPr>
          <p:cNvPr id="4" name="Shape 2"/>
          <p:cNvSpPr/>
          <p:nvPr/>
        </p:nvSpPr>
        <p:spPr>
          <a:xfrm>
            <a:off x="566928" y="1508760"/>
            <a:ext cx="5157216" cy="4206240"/>
          </a:xfrm>
          <a:prstGeom prst="rect">
            <a:avLst>
              <a:gd name="adj" fmla="val 2609"/>
            </a:avLst>
          </a:prstGeom>
          <a:solidFill>
            <a:srgbClr val="FFFFFF"/>
          </a:solidFill>
          <a:ln w="12700">
            <a:solidFill>
              <a:srgbClr val="FFFFFF"/>
            </a:solidFill>
            <a:prstDash val="solid"/>
          </a:ln>
        </p:spPr>
      </p:sp>
      <p:sp>
        <p:nvSpPr>
          <p:cNvPr id="5" name="Shape 3"/>
          <p:cNvSpPr/>
          <p:nvPr/>
        </p:nvSpPr>
        <p:spPr>
          <a:xfrm>
            <a:off x="5907024" y="1508760"/>
            <a:ext cx="5705856" cy="4206240"/>
          </a:xfrm>
          <a:prstGeom prst="rect">
            <a:avLst>
              <a:gd name="adj" fmla="val 2609"/>
            </a:avLst>
          </a:prstGeom>
          <a:solidFill>
            <a:srgbClr val="FFFFFF"/>
          </a:solidFill>
          <a:ln w="12700">
            <a:solidFill>
              <a:srgbClr val="FFFFFF"/>
            </a:solidFill>
            <a:prstDash val="solid"/>
          </a:ln>
        </p:spPr>
      </p:sp>
      <p:sp>
        <p:nvSpPr>
          <p:cNvPr id="6" name="Text 4"/>
          <p:cNvSpPr/>
          <p:nvPr/>
        </p:nvSpPr>
        <p:spPr>
          <a:xfrm>
            <a:off x="859536" y="1783080"/>
            <a:ext cx="4297680" cy="237744"/>
          </a:xfrm>
          <a:prstGeom prst="rect">
            <a:avLst/>
          </a:prstGeom>
          <a:noFill/>
          <a:ln/>
        </p:spPr>
        <p:txBody>
          <a:bodyPr wrap="square" lIns="0" tIns="0" rIns="0" bIns="0" rtlCol="0" anchor="ctr"/>
          <a:lstStyle/>
          <a:p>
            <a:pPr indent="0" marL="0">
              <a:buNone/>
            </a:pPr>
            <a:r>
              <a:rPr lang="en-US" sz="950" b="1" spc="180" kern="0" dirty="0">
                <a:solidFill>
                  <a:srgbClr val="6A7C74"/>
                </a:solidFill>
                <a:latin typeface="Inter" pitchFamily="34" charset="0"/>
                <a:ea typeface="Inter" pitchFamily="34" charset="-122"/>
                <a:cs typeface="Inter" pitchFamily="34" charset="-120"/>
              </a:rPr>
              <a:t>BEFORE  /  DEFAULT SCATTERPLOT</a:t>
            </a:r>
            <a:endParaRPr lang="en-US" sz="950" dirty="0"/>
          </a:p>
        </p:txBody>
      </p:sp>
      <p:sp>
        <p:nvSpPr>
          <p:cNvPr id="7" name="Text 5"/>
          <p:cNvSpPr/>
          <p:nvPr/>
        </p:nvSpPr>
        <p:spPr>
          <a:xfrm>
            <a:off x="6199632" y="1783080"/>
            <a:ext cx="4846320" cy="237744"/>
          </a:xfrm>
          <a:prstGeom prst="rect">
            <a:avLst/>
          </a:prstGeom>
          <a:noFill/>
          <a:ln/>
        </p:spPr>
        <p:txBody>
          <a:bodyPr wrap="square" lIns="0" tIns="0" rIns="0" bIns="0" rtlCol="0" anchor="ctr"/>
          <a:lstStyle/>
          <a:p>
            <a:pPr indent="0" marL="0">
              <a:buNone/>
            </a:pPr>
            <a:r>
              <a:rPr lang="en-US" sz="950" b="1" spc="180" kern="0" dirty="0">
                <a:solidFill>
                  <a:srgbClr val="2E8373"/>
                </a:solidFill>
                <a:latin typeface="Inter" pitchFamily="34" charset="0"/>
                <a:ea typeface="Inter" pitchFamily="34" charset="-122"/>
                <a:cs typeface="Inter" pitchFamily="34" charset="-120"/>
              </a:rPr>
              <a:t>AFTER  /  WEIGHTED GROUP RATES</a:t>
            </a:r>
            <a:endParaRPr lang="en-US" sz="950" dirty="0"/>
          </a:p>
        </p:txBody>
      </p:sp>
      <p:sp>
        <p:nvSpPr>
          <p:cNvPr id="115" name="Text 113"/>
          <p:cNvSpPr/>
          <p:nvPr/>
        </p:nvSpPr>
        <p:spPr>
          <a:xfrm>
            <a:off x="685800" y="5916168"/>
            <a:ext cx="1325880" cy="237744"/>
          </a:xfrm>
          <a:prstGeom prst="rect">
            <a:avLst/>
          </a:prstGeom>
          <a:noFill/>
          <a:ln/>
        </p:spPr>
        <p:txBody>
          <a:bodyPr wrap="square" lIns="0" tIns="0" rIns="0" bIns="0" rtlCol="0" anchor="ctr"/>
          <a:lstStyle/>
          <a:p>
            <a:pPr indent="0" marL="0">
              <a:buNone/>
            </a:pPr>
            <a:r>
              <a:rPr lang="en-US" sz="950" b="1" spc="180" kern="0" dirty="0">
                <a:solidFill>
                  <a:srgbClr val="2E8373"/>
                </a:solidFill>
                <a:latin typeface="Inter" pitchFamily="34" charset="0"/>
                <a:ea typeface="Inter" pitchFamily="34" charset="-122"/>
                <a:cs typeface="Inter" pitchFamily="34" charset="-120"/>
              </a:rPr>
              <a:t>WHAT CHANGED</a:t>
            </a:r>
            <a:endParaRPr lang="en-US" sz="950" dirty="0"/>
          </a:p>
        </p:txBody>
      </p:sp>
      <p:sp>
        <p:nvSpPr>
          <p:cNvPr id="116" name="Text 114"/>
          <p:cNvSpPr/>
          <p:nvPr/>
        </p:nvSpPr>
        <p:spPr>
          <a:xfrm>
            <a:off x="2103120" y="5879592"/>
            <a:ext cx="9052560" cy="256032"/>
          </a:xfrm>
          <a:prstGeom prst="rect">
            <a:avLst/>
          </a:prstGeom>
          <a:noFill/>
          <a:ln/>
        </p:spPr>
        <p:txBody>
          <a:bodyPr wrap="square" lIns="0" tIns="0" rIns="0" bIns="0" rtlCol="0" anchor="ctr"/>
          <a:lstStyle/>
          <a:p>
            <a:pPr indent="0" marL="0">
              <a:buNone/>
            </a:pPr>
            <a:r>
              <a:rPr lang="en-US" sz="1200" dirty="0">
                <a:solidFill>
                  <a:srgbClr val="172A27"/>
                </a:solidFill>
                <a:latin typeface="Inter" pitchFamily="34" charset="0"/>
                <a:ea typeface="Inter" pitchFamily="34" charset="-122"/>
                <a:cs typeface="Inter" pitchFamily="34" charset="-120"/>
              </a:rPr>
              <a:t>Less overplotting    •    Comparable group rates    •    Direct labels and gap annotation</a:t>
            </a:r>
            <a:endParaRPr lang="en-US" sz="1200" dirty="0"/>
          </a:p>
        </p:txBody>
      </p:sp>
      <p:sp>
        <p:nvSpPr>
          <p:cNvPr id="117" name="Text 115"/>
          <p:cNvSpPr/>
          <p:nvPr/>
        </p:nvSpPr>
        <p:spPr>
          <a:xfrm>
            <a:off x="640080" y="6556248"/>
            <a:ext cx="8229600" cy="146304"/>
          </a:xfrm>
          <a:prstGeom prst="rect">
            <a:avLst/>
          </a:prstGeom>
          <a:noFill/>
          <a:ln/>
        </p:spPr>
        <p:txBody>
          <a:bodyPr wrap="square" lIns="0" tIns="0" rIns="0" bIns="0" rtlCol="0" anchor="ctr"/>
          <a:lstStyle/>
          <a:p>
            <a:pPr indent="0" marL="0">
              <a:buNone/>
            </a:pPr>
            <a:r>
              <a:rPr lang="en-US" sz="780" b="1" spc="100" kern="0" dirty="0">
                <a:solidFill>
                  <a:srgbClr val="6A7C74"/>
                </a:solidFill>
                <a:latin typeface="Inter" pitchFamily="34" charset="0"/>
                <a:ea typeface="Inter" pitchFamily="34" charset="-122"/>
                <a:cs typeface="Inter" pitchFamily="34" charset="-120"/>
              </a:rPr>
              <a:t>PSLM 2019–20  /  RURAL PUNJAB  /  VARIANT 0</a:t>
            </a:r>
            <a:endParaRPr lang="en-US" sz="780" dirty="0"/>
          </a:p>
        </p:txBody>
      </p:sp>
      <p:sp>
        <p:nvSpPr>
          <p:cNvPr id="118" name="Text 116"/>
          <p:cNvSpPr/>
          <p:nvPr/>
        </p:nvSpPr>
        <p:spPr>
          <a:xfrm>
            <a:off x="10972800" y="6537960"/>
            <a:ext cx="548640" cy="182880"/>
          </a:xfrm>
          <a:prstGeom prst="rect">
            <a:avLst/>
          </a:prstGeom>
          <a:noFill/>
          <a:ln/>
        </p:spPr>
        <p:txBody>
          <a:bodyPr wrap="square" lIns="0" tIns="0" rIns="0" bIns="0" rtlCol="0" anchor="ctr"/>
          <a:lstStyle/>
          <a:p>
            <a:pPr algn="r" indent="0" marL="0">
              <a:buNone/>
            </a:pPr>
            <a:r>
              <a:rPr lang="en-US" sz="900" b="1" dirty="0">
                <a:solidFill>
                  <a:srgbClr val="6A7C74"/>
                </a:solidFill>
                <a:latin typeface="Inter" pitchFamily="34" charset="0"/>
                <a:ea typeface="Inter" pitchFamily="34" charset="-122"/>
                <a:cs typeface="Inter" pitchFamily="34" charset="-120"/>
              </a:rPr>
              <a:t>03 / 04</a:t>
            </a:r>
            <a:endParaRPr lang="en-US" sz="900" dirty="0"/>
          </a:p>
        </p:txBody>
      </p:sp>
      <p:pic>
        <p:nvPicPr>
          <p:cNvPr id="119" name="Picture 118" descr="Default scatterplot of binary literacy vs age"/>
          <p:cNvPicPr>
            <a:picLocks noChangeAspect="1"/>
          </p:cNvPicPr>
          <p:nvPr/>
        </p:nvPicPr>
        <p:blipFill>
          <a:blip r:embed="rId3"/>
          <a:stretch>
            <a:fillRect/>
          </a:stretch>
        </p:blipFill>
        <p:spPr>
          <a:xfrm>
            <a:off x="859536" y="2203704"/>
            <a:ext cx="4590288" cy="3054096"/>
          </a:xfrm>
          <a:prstGeom prst="rect">
            <a:avLst/>
          </a:prstGeom>
        </p:spPr>
      </p:pic>
      <p:pic>
        <p:nvPicPr>
          <p:cNvPr id="120" name="Picture 119" descr="Weighted literacy rates for men and women by age"/>
          <p:cNvPicPr>
            <a:picLocks noChangeAspect="1"/>
          </p:cNvPicPr>
          <p:nvPr/>
        </p:nvPicPr>
        <p:blipFill>
          <a:blip r:embed="rId4"/>
          <a:stretch>
            <a:fillRect/>
          </a:stretch>
        </p:blipFill>
        <p:spPr>
          <a:xfrm>
            <a:off x="6108192" y="2167128"/>
            <a:ext cx="5138928" cy="32735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924"/>
        </a:solidFill>
      </p:bgPr>
    </p:bg>
    <p:spTree>
      <p:nvGrpSpPr>
        <p:cNvPr id="1" name=""/>
        <p:cNvGrpSpPr/>
        <p:nvPr/>
      </p:nvGrpSpPr>
      <p:grpSpPr>
        <a:xfrm>
          <a:off x="0" y="0"/>
          <a:ext cx="0" cy="0"/>
          <a:chOff x="0" y="0"/>
          <a:chExt cx="0" cy="0"/>
        </a:xfrm>
      </p:grpSpPr>
      <p:sp>
        <p:nvSpPr>
          <p:cNvPr id="2" name="Text 0"/>
          <p:cNvSpPr/>
          <p:nvPr/>
        </p:nvSpPr>
        <p:spPr>
          <a:xfrm>
            <a:off x="658368" y="466344"/>
            <a:ext cx="4663440" cy="237744"/>
          </a:xfrm>
          <a:prstGeom prst="rect">
            <a:avLst/>
          </a:prstGeom>
          <a:noFill/>
          <a:ln/>
        </p:spPr>
        <p:txBody>
          <a:bodyPr wrap="square" lIns="0" tIns="0" rIns="0" bIns="0" rtlCol="0" anchor="ctr"/>
          <a:lstStyle/>
          <a:p>
            <a:pPr indent="0" marL="0">
              <a:buNone/>
            </a:pPr>
            <a:r>
              <a:rPr lang="en-US" sz="950" b="1" spc="180" kern="0" dirty="0">
                <a:solidFill>
                  <a:srgbClr val="C9F071"/>
                </a:solidFill>
                <a:latin typeface="Inter" pitchFamily="34" charset="0"/>
                <a:ea typeface="Inter" pitchFamily="34" charset="-122"/>
                <a:cs typeface="Inter" pitchFamily="34" charset="-120"/>
              </a:rPr>
              <a:t>04   /   THE CENTRAL FINDING</a:t>
            </a:r>
            <a:endParaRPr lang="en-US" sz="950" dirty="0"/>
          </a:p>
        </p:txBody>
      </p:sp>
      <p:sp>
        <p:nvSpPr>
          <p:cNvPr id="3" name="Text 1"/>
          <p:cNvSpPr/>
          <p:nvPr/>
        </p:nvSpPr>
        <p:spPr>
          <a:xfrm>
            <a:off x="658368" y="841248"/>
            <a:ext cx="10789920" cy="1261872"/>
          </a:xfrm>
          <a:prstGeom prst="rect">
            <a:avLst/>
          </a:prstGeom>
          <a:noFill/>
          <a:ln/>
        </p:spPr>
        <p:txBody>
          <a:bodyPr wrap="square" lIns="0" tIns="0" rIns="0" bIns="0" rtlCol="0" anchor="ctr"/>
          <a:lstStyle/>
          <a:p>
            <a:pPr indent="0" marL="0">
              <a:buNone/>
            </a:pPr>
            <a:r>
              <a:rPr lang="en-US" sz="3580" b="1" dirty="0">
                <a:solidFill>
                  <a:srgbClr val="FFFFFF"/>
                </a:solidFill>
                <a:latin typeface="Inter Display" pitchFamily="34" charset="0"/>
                <a:ea typeface="Inter Display" pitchFamily="34" charset="-122"/>
                <a:cs typeface="Inter Display" pitchFamily="34" charset="-120"/>
              </a:rPr>
              <a:t>The gender gap widens</a:t>
            </a:r>
            <a:endParaRPr lang="en-US" sz="3580" dirty="0"/>
          </a:p>
          <a:p>
            <a:pPr indent="0" marL="0">
              <a:buNone/>
            </a:pPr>
            <a:r>
              <a:rPr lang="en-US" sz="3580" b="1" dirty="0">
                <a:solidFill>
                  <a:srgbClr val="FFFFFF"/>
                </a:solidFill>
                <a:latin typeface="Inter Display" pitchFamily="34" charset="0"/>
                <a:ea typeface="Inter Display" pitchFamily="34" charset="-122"/>
                <a:cs typeface="Inter Display" pitchFamily="34" charset="-120"/>
              </a:rPr>
              <a:t>across age groups.</a:t>
            </a:r>
            <a:endParaRPr lang="en-US" sz="3580" dirty="0"/>
          </a:p>
        </p:txBody>
      </p:sp>
      <p:sp>
        <p:nvSpPr>
          <p:cNvPr id="4" name="Shape 2"/>
          <p:cNvSpPr/>
          <p:nvPr/>
        </p:nvSpPr>
        <p:spPr>
          <a:xfrm>
            <a:off x="658368" y="2468880"/>
            <a:ext cx="3931920" cy="2715768"/>
          </a:xfrm>
          <a:prstGeom prst="rect">
            <a:avLst>
              <a:gd name="adj" fmla="val 4040"/>
            </a:avLst>
          </a:prstGeom>
          <a:solidFill>
            <a:srgbClr val="C9F071"/>
          </a:solidFill>
          <a:ln w="12700">
            <a:solidFill>
              <a:srgbClr val="C9F071"/>
            </a:solidFill>
            <a:prstDash val="solid"/>
          </a:ln>
        </p:spPr>
      </p:sp>
      <p:sp>
        <p:nvSpPr>
          <p:cNvPr id="5" name="Text 3"/>
          <p:cNvSpPr/>
          <p:nvPr/>
        </p:nvSpPr>
        <p:spPr>
          <a:xfrm>
            <a:off x="969264" y="2798064"/>
            <a:ext cx="3383280" cy="237744"/>
          </a:xfrm>
          <a:prstGeom prst="rect">
            <a:avLst/>
          </a:prstGeom>
          <a:noFill/>
          <a:ln/>
        </p:spPr>
        <p:txBody>
          <a:bodyPr wrap="square" lIns="0" tIns="0" rIns="0" bIns="0" rtlCol="0" anchor="ctr"/>
          <a:lstStyle/>
          <a:p>
            <a:pPr indent="0" marL="0">
              <a:buNone/>
            </a:pPr>
            <a:r>
              <a:rPr lang="en-US" sz="950" b="1" spc="180" kern="0" dirty="0">
                <a:solidFill>
                  <a:srgbClr val="142924"/>
                </a:solidFill>
                <a:latin typeface="Inter" pitchFamily="34" charset="0"/>
                <a:ea typeface="Inter" pitchFamily="34" charset="-122"/>
                <a:cs typeface="Inter" pitchFamily="34" charset="-120"/>
              </a:rPr>
              <a:t>LARGEST OBSERVED GAP</a:t>
            </a:r>
            <a:endParaRPr lang="en-US" sz="950" dirty="0"/>
          </a:p>
        </p:txBody>
      </p:sp>
      <p:sp>
        <p:nvSpPr>
          <p:cNvPr id="6" name="Text 4"/>
          <p:cNvSpPr/>
          <p:nvPr/>
        </p:nvSpPr>
        <p:spPr>
          <a:xfrm>
            <a:off x="941832" y="3182112"/>
            <a:ext cx="2615184" cy="832104"/>
          </a:xfrm>
          <a:prstGeom prst="rect">
            <a:avLst/>
          </a:prstGeom>
          <a:noFill/>
          <a:ln/>
        </p:spPr>
        <p:txBody>
          <a:bodyPr wrap="square" lIns="0" tIns="0" rIns="0" bIns="0" rtlCol="0" anchor="ctr"/>
          <a:lstStyle/>
          <a:p>
            <a:pPr indent="0" marL="0">
              <a:buNone/>
            </a:pPr>
            <a:r>
              <a:rPr lang="en-US" sz="5620" b="1" dirty="0">
                <a:solidFill>
                  <a:srgbClr val="142924"/>
                </a:solidFill>
                <a:latin typeface="Inter Display" pitchFamily="34" charset="0"/>
                <a:ea typeface="Inter Display" pitchFamily="34" charset="-122"/>
                <a:cs typeface="Inter Display" pitchFamily="34" charset="-120"/>
              </a:rPr>
              <a:t>35.8</a:t>
            </a:r>
            <a:endParaRPr lang="en-US" sz="5620" dirty="0"/>
          </a:p>
        </p:txBody>
      </p:sp>
      <p:sp>
        <p:nvSpPr>
          <p:cNvPr id="7" name="Text 5"/>
          <p:cNvSpPr/>
          <p:nvPr/>
        </p:nvSpPr>
        <p:spPr>
          <a:xfrm>
            <a:off x="3657600" y="3648456"/>
            <a:ext cx="585216" cy="301752"/>
          </a:xfrm>
          <a:prstGeom prst="rect">
            <a:avLst/>
          </a:prstGeom>
          <a:noFill/>
          <a:ln/>
        </p:spPr>
        <p:txBody>
          <a:bodyPr wrap="square" lIns="0" tIns="0" rIns="0" bIns="0" rtlCol="0" anchor="ctr"/>
          <a:lstStyle/>
          <a:p>
            <a:pPr indent="0" marL="0">
              <a:buNone/>
            </a:pPr>
            <a:r>
              <a:rPr lang="en-US" sz="2200" b="1" dirty="0">
                <a:solidFill>
                  <a:srgbClr val="142924"/>
                </a:solidFill>
                <a:latin typeface="Inter" pitchFamily="34" charset="0"/>
                <a:ea typeface="Inter" pitchFamily="34" charset="-122"/>
                <a:cs typeface="Inter" pitchFamily="34" charset="-120"/>
              </a:rPr>
              <a:t>pp</a:t>
            </a:r>
            <a:endParaRPr lang="en-US" sz="2200" dirty="0"/>
          </a:p>
        </p:txBody>
      </p:sp>
      <p:sp>
        <p:nvSpPr>
          <p:cNvPr id="8" name="Text 6"/>
          <p:cNvSpPr/>
          <p:nvPr/>
        </p:nvSpPr>
        <p:spPr>
          <a:xfrm>
            <a:off x="978408" y="4389120"/>
            <a:ext cx="3108960" cy="356616"/>
          </a:xfrm>
          <a:prstGeom prst="rect">
            <a:avLst/>
          </a:prstGeom>
          <a:noFill/>
          <a:ln/>
        </p:spPr>
        <p:txBody>
          <a:bodyPr wrap="square" lIns="0" tIns="0" rIns="0" bIns="0" rtlCol="0" anchor="ctr"/>
          <a:lstStyle/>
          <a:p>
            <a:pPr indent="0" marL="0">
              <a:buNone/>
            </a:pPr>
            <a:r>
              <a:rPr lang="en-US" sz="2100" b="1" dirty="0">
                <a:solidFill>
                  <a:srgbClr val="142924"/>
                </a:solidFill>
                <a:latin typeface="Inter" pitchFamily="34" charset="0"/>
                <a:ea typeface="Inter" pitchFamily="34" charset="-122"/>
                <a:cs typeface="Inter" pitchFamily="34" charset="-120"/>
              </a:rPr>
              <a:t>Ages 55–59</a:t>
            </a:r>
            <a:endParaRPr lang="en-US" sz="2100" dirty="0"/>
          </a:p>
        </p:txBody>
      </p:sp>
      <p:sp>
        <p:nvSpPr>
          <p:cNvPr id="9" name="Text 7"/>
          <p:cNvSpPr/>
          <p:nvPr/>
        </p:nvSpPr>
        <p:spPr>
          <a:xfrm>
            <a:off x="5111496" y="2542032"/>
            <a:ext cx="5257800" cy="237744"/>
          </a:xfrm>
          <a:prstGeom prst="rect">
            <a:avLst/>
          </a:prstGeom>
          <a:noFill/>
          <a:ln/>
        </p:spPr>
        <p:txBody>
          <a:bodyPr wrap="square" lIns="0" tIns="0" rIns="0" bIns="0" rtlCol="0" anchor="ctr"/>
          <a:lstStyle/>
          <a:p>
            <a:pPr indent="0" marL="0">
              <a:buNone/>
            </a:pPr>
            <a:r>
              <a:rPr lang="en-US" sz="950" b="1" spc="180" kern="0" dirty="0">
                <a:solidFill>
                  <a:srgbClr val="C2D9CC"/>
                </a:solidFill>
                <a:latin typeface="Inter" pitchFamily="34" charset="0"/>
                <a:ea typeface="Inter" pitchFamily="34" charset="-122"/>
                <a:cs typeface="Inter" pitchFamily="34" charset="-120"/>
              </a:rPr>
              <a:t>LITERACY RATE BY SEX</a:t>
            </a:r>
            <a:endParaRPr lang="en-US" sz="950" dirty="0"/>
          </a:p>
        </p:txBody>
      </p:sp>
      <p:sp>
        <p:nvSpPr>
          <p:cNvPr id="10" name="Text 8"/>
          <p:cNvSpPr/>
          <p:nvPr/>
        </p:nvSpPr>
        <p:spPr>
          <a:xfrm>
            <a:off x="5093208" y="2990088"/>
            <a:ext cx="4023360" cy="283464"/>
          </a:xfrm>
          <a:prstGeom prst="rect">
            <a:avLst/>
          </a:prstGeom>
          <a:noFill/>
          <a:ln/>
        </p:spPr>
        <p:txBody>
          <a:bodyPr wrap="square" lIns="0" tIns="0" rIns="0" bIns="0" rtlCol="0" anchor="ctr"/>
          <a:lstStyle/>
          <a:p>
            <a:pPr indent="0" marL="0">
              <a:buNone/>
            </a:pPr>
            <a:r>
              <a:rPr lang="en-US" sz="1640" b="1" dirty="0">
                <a:solidFill>
                  <a:srgbClr val="FFFFFF"/>
                </a:solidFill>
                <a:latin typeface="Inter" pitchFamily="34" charset="0"/>
                <a:ea typeface="Inter" pitchFamily="34" charset="-122"/>
                <a:cs typeface="Inter" pitchFamily="34" charset="-120"/>
              </a:rPr>
              <a:t>Ages 15–19  /  gap 6.7 pp</a:t>
            </a:r>
            <a:endParaRPr lang="en-US" sz="1640" dirty="0"/>
          </a:p>
        </p:txBody>
      </p:sp>
      <p:sp>
        <p:nvSpPr>
          <p:cNvPr id="11" name="Text 9"/>
          <p:cNvSpPr/>
          <p:nvPr/>
        </p:nvSpPr>
        <p:spPr>
          <a:xfrm>
            <a:off x="5093208" y="3447288"/>
            <a:ext cx="566928" cy="210312"/>
          </a:xfrm>
          <a:prstGeom prst="rect">
            <a:avLst/>
          </a:prstGeom>
          <a:noFill/>
          <a:ln/>
        </p:spPr>
        <p:txBody>
          <a:bodyPr wrap="square" lIns="0" tIns="0" rIns="0" bIns="0" rtlCol="0" anchor="ctr"/>
          <a:lstStyle/>
          <a:p>
            <a:pPr indent="0" marL="0">
              <a:buNone/>
            </a:pPr>
            <a:r>
              <a:rPr lang="en-US" sz="1070" dirty="0">
                <a:solidFill>
                  <a:srgbClr val="C9DDD1"/>
                </a:solidFill>
                <a:latin typeface="Inter" pitchFamily="34" charset="0"/>
                <a:ea typeface="Inter" pitchFamily="34" charset="-122"/>
                <a:cs typeface="Inter" pitchFamily="34" charset="-120"/>
              </a:rPr>
              <a:t>Men</a:t>
            </a:r>
            <a:endParaRPr lang="en-US" sz="1070" dirty="0"/>
          </a:p>
        </p:txBody>
      </p:sp>
      <p:sp>
        <p:nvSpPr>
          <p:cNvPr id="12" name="Shape 10"/>
          <p:cNvSpPr/>
          <p:nvPr/>
        </p:nvSpPr>
        <p:spPr>
          <a:xfrm>
            <a:off x="5824728" y="3410712"/>
            <a:ext cx="2794717" cy="256032"/>
          </a:xfrm>
          <a:prstGeom prst="rect">
            <a:avLst>
              <a:gd name="adj" fmla="val 42857"/>
            </a:avLst>
          </a:prstGeom>
          <a:solidFill>
            <a:srgbClr val="D6CDF5"/>
          </a:solidFill>
          <a:ln w="12700">
            <a:solidFill>
              <a:srgbClr val="D6CDF5"/>
            </a:solidFill>
            <a:prstDash val="solid"/>
          </a:ln>
        </p:spPr>
      </p:sp>
      <p:sp>
        <p:nvSpPr>
          <p:cNvPr id="13" name="Text 11"/>
          <p:cNvSpPr/>
          <p:nvPr/>
        </p:nvSpPr>
        <p:spPr>
          <a:xfrm>
            <a:off x="8701741" y="3447288"/>
            <a:ext cx="621792" cy="182880"/>
          </a:xfrm>
          <a:prstGeom prst="rect">
            <a:avLst/>
          </a:prstGeom>
          <a:noFill/>
          <a:ln/>
        </p:spPr>
        <p:txBody>
          <a:bodyPr wrap="square" lIns="0" tIns="0" rIns="0" bIns="0" rtlCol="0" anchor="ctr"/>
          <a:lstStyle/>
          <a:p>
            <a:pPr indent="0" marL="0">
              <a:buNone/>
            </a:pPr>
            <a:r>
              <a:rPr lang="en-US" sz="1020" b="1" dirty="0">
                <a:solidFill>
                  <a:srgbClr val="FFFFFF"/>
                </a:solidFill>
                <a:latin typeface="Inter" pitchFamily="34" charset="0"/>
                <a:ea typeface="Inter" pitchFamily="34" charset="-122"/>
                <a:cs typeface="Inter" pitchFamily="34" charset="-120"/>
              </a:rPr>
              <a:t>79.8%</a:t>
            </a:r>
            <a:endParaRPr lang="en-US" sz="1020" dirty="0"/>
          </a:p>
        </p:txBody>
      </p:sp>
      <p:sp>
        <p:nvSpPr>
          <p:cNvPr id="14" name="Text 12"/>
          <p:cNvSpPr/>
          <p:nvPr/>
        </p:nvSpPr>
        <p:spPr>
          <a:xfrm>
            <a:off x="5093208" y="3849624"/>
            <a:ext cx="658368" cy="210312"/>
          </a:xfrm>
          <a:prstGeom prst="rect">
            <a:avLst/>
          </a:prstGeom>
          <a:noFill/>
          <a:ln/>
        </p:spPr>
        <p:txBody>
          <a:bodyPr wrap="square" lIns="0" tIns="0" rIns="0" bIns="0" rtlCol="0" anchor="ctr"/>
          <a:lstStyle/>
          <a:p>
            <a:pPr indent="0" marL="0">
              <a:buNone/>
            </a:pPr>
            <a:r>
              <a:rPr lang="en-US" sz="1070" dirty="0">
                <a:solidFill>
                  <a:srgbClr val="C9DDD1"/>
                </a:solidFill>
                <a:latin typeface="Inter" pitchFamily="34" charset="0"/>
                <a:ea typeface="Inter" pitchFamily="34" charset="-122"/>
                <a:cs typeface="Inter" pitchFamily="34" charset="-120"/>
              </a:rPr>
              <a:t>Women</a:t>
            </a:r>
            <a:endParaRPr lang="en-US" sz="1070" dirty="0"/>
          </a:p>
        </p:txBody>
      </p:sp>
      <p:sp>
        <p:nvSpPr>
          <p:cNvPr id="15" name="Shape 13"/>
          <p:cNvSpPr/>
          <p:nvPr/>
        </p:nvSpPr>
        <p:spPr>
          <a:xfrm>
            <a:off x="5824728" y="3849624"/>
            <a:ext cx="2560073" cy="256032"/>
          </a:xfrm>
          <a:prstGeom prst="rect">
            <a:avLst>
              <a:gd name="adj" fmla="val 42857"/>
            </a:avLst>
          </a:prstGeom>
          <a:solidFill>
            <a:srgbClr val="8DE1AF"/>
          </a:solidFill>
          <a:ln w="12700">
            <a:solidFill>
              <a:srgbClr val="8DE1AF"/>
            </a:solidFill>
            <a:prstDash val="solid"/>
          </a:ln>
        </p:spPr>
      </p:sp>
      <p:sp>
        <p:nvSpPr>
          <p:cNvPr id="16" name="Text 14"/>
          <p:cNvSpPr/>
          <p:nvPr/>
        </p:nvSpPr>
        <p:spPr>
          <a:xfrm>
            <a:off x="8467097" y="3886200"/>
            <a:ext cx="621792" cy="182880"/>
          </a:xfrm>
          <a:prstGeom prst="rect">
            <a:avLst/>
          </a:prstGeom>
          <a:noFill/>
          <a:ln/>
        </p:spPr>
        <p:txBody>
          <a:bodyPr wrap="square" lIns="0" tIns="0" rIns="0" bIns="0" rtlCol="0" anchor="ctr"/>
          <a:lstStyle/>
          <a:p>
            <a:pPr indent="0" marL="0">
              <a:buNone/>
            </a:pPr>
            <a:r>
              <a:rPr lang="en-US" sz="1020" b="1" dirty="0">
                <a:solidFill>
                  <a:srgbClr val="FFFFFF"/>
                </a:solidFill>
                <a:latin typeface="Inter" pitchFamily="34" charset="0"/>
                <a:ea typeface="Inter" pitchFamily="34" charset="-122"/>
                <a:cs typeface="Inter" pitchFamily="34" charset="-120"/>
              </a:rPr>
              <a:t>73.1%</a:t>
            </a:r>
            <a:endParaRPr lang="en-US" sz="1020" dirty="0"/>
          </a:p>
        </p:txBody>
      </p:sp>
      <p:sp>
        <p:nvSpPr>
          <p:cNvPr id="17" name="Text 15"/>
          <p:cNvSpPr/>
          <p:nvPr/>
        </p:nvSpPr>
        <p:spPr>
          <a:xfrm>
            <a:off x="5093208" y="4590288"/>
            <a:ext cx="4023360" cy="283464"/>
          </a:xfrm>
          <a:prstGeom prst="rect">
            <a:avLst/>
          </a:prstGeom>
          <a:noFill/>
          <a:ln/>
        </p:spPr>
        <p:txBody>
          <a:bodyPr wrap="square" lIns="0" tIns="0" rIns="0" bIns="0" rtlCol="0" anchor="ctr"/>
          <a:lstStyle/>
          <a:p>
            <a:pPr indent="0" marL="0">
              <a:buNone/>
            </a:pPr>
            <a:r>
              <a:rPr lang="en-US" sz="1640" b="1" dirty="0">
                <a:solidFill>
                  <a:srgbClr val="FFFFFF"/>
                </a:solidFill>
                <a:latin typeface="Inter" pitchFamily="34" charset="0"/>
                <a:ea typeface="Inter" pitchFamily="34" charset="-122"/>
                <a:cs typeface="Inter" pitchFamily="34" charset="-120"/>
              </a:rPr>
              <a:t>Ages 55–59  /  gap 35.8 pp</a:t>
            </a:r>
            <a:endParaRPr lang="en-US" sz="1640" dirty="0"/>
          </a:p>
        </p:txBody>
      </p:sp>
      <p:sp>
        <p:nvSpPr>
          <p:cNvPr id="18" name="Text 16"/>
          <p:cNvSpPr/>
          <p:nvPr/>
        </p:nvSpPr>
        <p:spPr>
          <a:xfrm>
            <a:off x="5093208" y="5047488"/>
            <a:ext cx="566928" cy="210312"/>
          </a:xfrm>
          <a:prstGeom prst="rect">
            <a:avLst/>
          </a:prstGeom>
          <a:noFill/>
          <a:ln/>
        </p:spPr>
        <p:txBody>
          <a:bodyPr wrap="square" lIns="0" tIns="0" rIns="0" bIns="0" rtlCol="0" anchor="ctr"/>
          <a:lstStyle/>
          <a:p>
            <a:pPr indent="0" marL="0">
              <a:buNone/>
            </a:pPr>
            <a:r>
              <a:rPr lang="en-US" sz="1070" dirty="0">
                <a:solidFill>
                  <a:srgbClr val="C9DDD1"/>
                </a:solidFill>
                <a:latin typeface="Inter" pitchFamily="34" charset="0"/>
                <a:ea typeface="Inter" pitchFamily="34" charset="-122"/>
                <a:cs typeface="Inter" pitchFamily="34" charset="-120"/>
              </a:rPr>
              <a:t>Men</a:t>
            </a:r>
            <a:endParaRPr lang="en-US" sz="1070" dirty="0"/>
          </a:p>
        </p:txBody>
      </p:sp>
      <p:sp>
        <p:nvSpPr>
          <p:cNvPr id="19" name="Shape 17"/>
          <p:cNvSpPr/>
          <p:nvPr/>
        </p:nvSpPr>
        <p:spPr>
          <a:xfrm>
            <a:off x="5824728" y="5010912"/>
            <a:ext cx="1779093" cy="256032"/>
          </a:xfrm>
          <a:prstGeom prst="rect">
            <a:avLst>
              <a:gd name="adj" fmla="val 42857"/>
            </a:avLst>
          </a:prstGeom>
          <a:solidFill>
            <a:srgbClr val="D6CDF5"/>
          </a:solidFill>
          <a:ln w="12700">
            <a:solidFill>
              <a:srgbClr val="D6CDF5"/>
            </a:solidFill>
            <a:prstDash val="solid"/>
          </a:ln>
        </p:spPr>
      </p:sp>
      <p:sp>
        <p:nvSpPr>
          <p:cNvPr id="20" name="Text 18"/>
          <p:cNvSpPr/>
          <p:nvPr/>
        </p:nvSpPr>
        <p:spPr>
          <a:xfrm>
            <a:off x="7686117" y="5047488"/>
            <a:ext cx="621792" cy="182880"/>
          </a:xfrm>
          <a:prstGeom prst="rect">
            <a:avLst/>
          </a:prstGeom>
          <a:noFill/>
          <a:ln/>
        </p:spPr>
        <p:txBody>
          <a:bodyPr wrap="square" lIns="0" tIns="0" rIns="0" bIns="0" rtlCol="0" anchor="ctr"/>
          <a:lstStyle/>
          <a:p>
            <a:pPr indent="0" marL="0">
              <a:buNone/>
            </a:pPr>
            <a:r>
              <a:rPr lang="en-US" sz="1020" b="1" dirty="0">
                <a:solidFill>
                  <a:srgbClr val="FFFFFF"/>
                </a:solidFill>
                <a:latin typeface="Inter" pitchFamily="34" charset="0"/>
                <a:ea typeface="Inter" pitchFamily="34" charset="-122"/>
                <a:cs typeface="Inter" pitchFamily="34" charset="-120"/>
              </a:rPr>
              <a:t>50.8%</a:t>
            </a:r>
            <a:endParaRPr lang="en-US" sz="1020" dirty="0"/>
          </a:p>
        </p:txBody>
      </p:sp>
      <p:sp>
        <p:nvSpPr>
          <p:cNvPr id="21" name="Text 19"/>
          <p:cNvSpPr/>
          <p:nvPr/>
        </p:nvSpPr>
        <p:spPr>
          <a:xfrm>
            <a:off x="5093208" y="5449824"/>
            <a:ext cx="658368" cy="210312"/>
          </a:xfrm>
          <a:prstGeom prst="rect">
            <a:avLst/>
          </a:prstGeom>
          <a:noFill/>
          <a:ln/>
        </p:spPr>
        <p:txBody>
          <a:bodyPr wrap="square" lIns="0" tIns="0" rIns="0" bIns="0" rtlCol="0" anchor="ctr"/>
          <a:lstStyle/>
          <a:p>
            <a:pPr indent="0" marL="0">
              <a:buNone/>
            </a:pPr>
            <a:r>
              <a:rPr lang="en-US" sz="1070" dirty="0">
                <a:solidFill>
                  <a:srgbClr val="C9DDD1"/>
                </a:solidFill>
                <a:latin typeface="Inter" pitchFamily="34" charset="0"/>
                <a:ea typeface="Inter" pitchFamily="34" charset="-122"/>
                <a:cs typeface="Inter" pitchFamily="34" charset="-120"/>
              </a:rPr>
              <a:t>Women</a:t>
            </a:r>
            <a:endParaRPr lang="en-US" sz="1070" dirty="0"/>
          </a:p>
        </p:txBody>
      </p:sp>
      <p:sp>
        <p:nvSpPr>
          <p:cNvPr id="22" name="Shape 20"/>
          <p:cNvSpPr/>
          <p:nvPr/>
        </p:nvSpPr>
        <p:spPr>
          <a:xfrm>
            <a:off x="5824728" y="5449824"/>
            <a:ext cx="525323" cy="256032"/>
          </a:xfrm>
          <a:prstGeom prst="rect">
            <a:avLst>
              <a:gd name="adj" fmla="val 42857"/>
            </a:avLst>
          </a:prstGeom>
          <a:solidFill>
            <a:srgbClr val="8DE1AF"/>
          </a:solidFill>
          <a:ln w="12700">
            <a:solidFill>
              <a:srgbClr val="8DE1AF"/>
            </a:solidFill>
            <a:prstDash val="solid"/>
          </a:ln>
        </p:spPr>
      </p:sp>
      <p:sp>
        <p:nvSpPr>
          <p:cNvPr id="23" name="Text 21"/>
          <p:cNvSpPr/>
          <p:nvPr/>
        </p:nvSpPr>
        <p:spPr>
          <a:xfrm>
            <a:off x="6432347" y="5486400"/>
            <a:ext cx="621792" cy="182880"/>
          </a:xfrm>
          <a:prstGeom prst="rect">
            <a:avLst/>
          </a:prstGeom>
          <a:noFill/>
          <a:ln/>
        </p:spPr>
        <p:txBody>
          <a:bodyPr wrap="square" lIns="0" tIns="0" rIns="0" bIns="0" rtlCol="0" anchor="ctr"/>
          <a:lstStyle/>
          <a:p>
            <a:pPr indent="0" marL="0">
              <a:buNone/>
            </a:pPr>
            <a:r>
              <a:rPr lang="en-US" sz="1020" b="1" dirty="0">
                <a:solidFill>
                  <a:srgbClr val="FFFFFF"/>
                </a:solidFill>
                <a:latin typeface="Inter" pitchFamily="34" charset="0"/>
                <a:ea typeface="Inter" pitchFamily="34" charset="-122"/>
                <a:cs typeface="Inter" pitchFamily="34" charset="-120"/>
              </a:rPr>
              <a:t>15.0%</a:t>
            </a:r>
            <a:endParaRPr lang="en-US" sz="1020" dirty="0"/>
          </a:p>
        </p:txBody>
      </p:sp>
      <p:sp>
        <p:nvSpPr>
          <p:cNvPr id="24" name="Shape 22"/>
          <p:cNvSpPr/>
          <p:nvPr/>
        </p:nvSpPr>
        <p:spPr>
          <a:xfrm>
            <a:off x="685800" y="5943600"/>
            <a:ext cx="10744200" cy="0"/>
          </a:xfrm>
          <a:prstGeom prst="line">
            <a:avLst/>
          </a:prstGeom>
          <a:noFill/>
          <a:ln w="12700">
            <a:solidFill>
              <a:srgbClr val="3D574D"/>
            </a:solidFill>
            <a:prstDash val="solid"/>
          </a:ln>
        </p:spPr>
      </p:sp>
      <p:sp>
        <p:nvSpPr>
          <p:cNvPr id="25" name="Text 23"/>
          <p:cNvSpPr/>
          <p:nvPr/>
        </p:nvSpPr>
        <p:spPr>
          <a:xfrm>
            <a:off x="694944" y="6108192"/>
            <a:ext cx="10789920" cy="347472"/>
          </a:xfrm>
          <a:prstGeom prst="rect">
            <a:avLst/>
          </a:prstGeom>
          <a:noFill/>
          <a:ln/>
        </p:spPr>
        <p:txBody>
          <a:bodyPr wrap="square" lIns="0" tIns="0" rIns="0" bIns="0" rtlCol="0" anchor="ctr"/>
          <a:lstStyle/>
          <a:p>
            <a:pPr indent="0" marL="0">
              <a:buNone/>
            </a:pPr>
            <a:r>
              <a:rPr lang="en-US" sz="1160" dirty="0">
                <a:solidFill>
                  <a:srgbClr val="CADACF"/>
                </a:solidFill>
                <a:latin typeface="Inter" pitchFamily="34" charset="0"/>
                <a:ea typeface="Inter" pitchFamily="34" charset="-122"/>
                <a:cs typeface="Inter" pitchFamily="34" charset="-120"/>
              </a:rPr>
              <a:t>Limitation: These cross-sectional age differences cannot show how the same individuals changed over time.</a:t>
            </a:r>
            <a:endParaRPr lang="en-US" sz="1160" dirty="0"/>
          </a:p>
        </p:txBody>
      </p:sp>
      <p:sp>
        <p:nvSpPr>
          <p:cNvPr id="26" name="Text 24"/>
          <p:cNvSpPr/>
          <p:nvPr/>
        </p:nvSpPr>
        <p:spPr>
          <a:xfrm>
            <a:off x="640080" y="6556248"/>
            <a:ext cx="8229600" cy="146304"/>
          </a:xfrm>
          <a:prstGeom prst="rect">
            <a:avLst/>
          </a:prstGeom>
          <a:noFill/>
          <a:ln/>
        </p:spPr>
        <p:txBody>
          <a:bodyPr wrap="square" lIns="0" tIns="0" rIns="0" bIns="0" rtlCol="0" anchor="ctr"/>
          <a:lstStyle/>
          <a:p>
            <a:pPr indent="0" marL="0">
              <a:buNone/>
            </a:pPr>
            <a:r>
              <a:rPr lang="en-US" sz="780" b="1" spc="100" kern="0" dirty="0">
                <a:solidFill>
                  <a:srgbClr val="A8C1B5"/>
                </a:solidFill>
                <a:latin typeface="Inter" pitchFamily="34" charset="0"/>
                <a:ea typeface="Inter" pitchFamily="34" charset="-122"/>
                <a:cs typeface="Inter" pitchFamily="34" charset="-120"/>
              </a:rPr>
              <a:t>PSLM 2019–20  /  RURAL PUNJAB  /  VARIANT 0</a:t>
            </a:r>
            <a:endParaRPr lang="en-US" sz="780" dirty="0"/>
          </a:p>
        </p:txBody>
      </p:sp>
      <p:sp>
        <p:nvSpPr>
          <p:cNvPr id="27" name="Text 25"/>
          <p:cNvSpPr/>
          <p:nvPr/>
        </p:nvSpPr>
        <p:spPr>
          <a:xfrm>
            <a:off x="10972800" y="6537960"/>
            <a:ext cx="548640" cy="182880"/>
          </a:xfrm>
          <a:prstGeom prst="rect">
            <a:avLst/>
          </a:prstGeom>
          <a:noFill/>
          <a:ln/>
        </p:spPr>
        <p:txBody>
          <a:bodyPr wrap="square" lIns="0" tIns="0" rIns="0" bIns="0" rtlCol="0" anchor="ctr"/>
          <a:lstStyle/>
          <a:p>
            <a:pPr algn="r" indent="0" marL="0">
              <a:buNone/>
            </a:pPr>
            <a:r>
              <a:rPr lang="en-US" sz="900" b="1" dirty="0">
                <a:solidFill>
                  <a:srgbClr val="A8C1B5"/>
                </a:solidFill>
                <a:latin typeface="Inter" pitchFamily="34" charset="0"/>
                <a:ea typeface="Inter" pitchFamily="34" charset="-122"/>
                <a:cs typeface="Inter" pitchFamily="34" charset="-120"/>
              </a:rPr>
              <a:t>04 / 04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 Spending and Literacy in Rural Punjab</dc:title>
  <dc:subject>ECO346 Assignment 1 – Rural Punjab</dc:subject>
  <dc:creator>Course presentation working draft</dc:creator>
  <cp:lastModifiedBy>Course presentation working draft</cp:lastModifiedBy>
  <cp:revision>1</cp:revision>
  <dcterms:created xsi:type="dcterms:W3CDTF">2026-10-25T15:10:39Z</dcterms:created>
  <dcterms:modified xsi:type="dcterms:W3CDTF">2026-10-25T15:10:39Z</dcterms:modified>
</cp:coreProperties>
</file>